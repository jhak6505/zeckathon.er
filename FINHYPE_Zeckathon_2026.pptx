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68680"/>
            <a:ext cx="10362895" cy="320040"/>
          </a:xfrm>
          <a:prstGeom prst="rect">
            <a:avLst/>
          </a:prstGeom>
          <a:noFill/>
        </p:spPr>
        <p:txBody>
          <a:bodyPr wrap="none">
            <a:spAutoFit/>
          </a:bodyPr>
          <a:lstStyle/>
          <a:p>
            <a:pPr>
              <a:defRPr sz="1150" b="1">
                <a:solidFill>
                  <a:srgbClr val="38BDF8"/>
                </a:solidFill>
                <a:latin typeface="Calibri"/>
              </a:defRPr>
            </a:pPr>
            <a:r>
              <a:t>ZECKATHON 2026 · PROBLEM STATEMENT 3: MUTUAL FUND CASH FLOW &amp; LIQUIDITY SIZING</a:t>
            </a:r>
          </a:p>
        </p:txBody>
      </p:sp>
      <p:sp>
        <p:nvSpPr>
          <p:cNvPr id="4" name="TextBox 3"/>
          <p:cNvSpPr txBox="1"/>
          <p:nvPr/>
        </p:nvSpPr>
        <p:spPr>
          <a:xfrm>
            <a:off x="914400" y="1234440"/>
            <a:ext cx="10362895" cy="1005840"/>
          </a:xfrm>
          <a:prstGeom prst="rect">
            <a:avLst/>
          </a:prstGeom>
          <a:noFill/>
        </p:spPr>
        <p:txBody>
          <a:bodyPr wrap="none">
            <a:spAutoFit/>
          </a:bodyPr>
          <a:lstStyle/>
          <a:p>
            <a:pPr>
              <a:defRPr sz="5400" b="1">
                <a:solidFill>
                  <a:srgbClr val="F8FAFC"/>
                </a:solidFill>
                <a:latin typeface="Calibri"/>
              </a:defRPr>
            </a:pPr>
            <a:r>
              <a:t>FINHYPE</a:t>
            </a:r>
          </a:p>
        </p:txBody>
      </p:sp>
      <p:sp>
        <p:nvSpPr>
          <p:cNvPr id="5" name="TextBox 4"/>
          <p:cNvSpPr txBox="1"/>
          <p:nvPr/>
        </p:nvSpPr>
        <p:spPr>
          <a:xfrm>
            <a:off x="914400" y="2286000"/>
            <a:ext cx="10362895" cy="502920"/>
          </a:xfrm>
          <a:prstGeom prst="rect">
            <a:avLst/>
          </a:prstGeom>
          <a:noFill/>
        </p:spPr>
        <p:txBody>
          <a:bodyPr wrap="none">
            <a:spAutoFit/>
          </a:bodyPr>
          <a:lstStyle/>
          <a:p>
            <a:pPr>
              <a:defRPr sz="2200" b="1">
                <a:solidFill>
                  <a:srgbClr val="60A5FA"/>
                </a:solidFill>
                <a:latin typeface="Calibri"/>
              </a:defRPr>
            </a:pPr>
            <a:r>
              <a:t>Quantitative Treasury Liquidity Forecasting &amp; Risk-Calibrated Buffer Sizing</a:t>
            </a:r>
          </a:p>
        </p:txBody>
      </p:sp>
      <p:sp>
        <p:nvSpPr>
          <p:cNvPr id="6" name="Rounded Rectangle 5"/>
          <p:cNvSpPr/>
          <p:nvPr/>
        </p:nvSpPr>
        <p:spPr>
          <a:xfrm>
            <a:off x="914400" y="2971800"/>
            <a:ext cx="10362895" cy="114300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090672"/>
            <a:ext cx="9905695" cy="914400"/>
          </a:xfrm>
          <a:prstGeom prst="rect">
            <a:avLst/>
          </a:prstGeom>
          <a:noFill/>
        </p:spPr>
        <p:txBody>
          <a:bodyPr wrap="square">
            <a:spAutoFit/>
          </a:bodyPr>
          <a:lstStyle/>
          <a:p>
            <a:pPr>
              <a:defRPr sz="1400">
                <a:solidFill>
                  <a:srgbClr val="F8FAFC"/>
                </a:solidFill>
                <a:latin typeface="Calibri"/>
              </a:defRPr>
            </a:pPr>
            <a:r>
              <a:t>An end-to-end quantitative platform that pre-positions Indian Liquid and Overnight mutual fund liquidity against cyclical corporate tax drains through leak-free probabilistic forecasting and empirical downside deficit sizing.</a:t>
            </a:r>
          </a:p>
        </p:txBody>
      </p:sp>
      <p:sp>
        <p:nvSpPr>
          <p:cNvPr id="8" name="Rounded Rectangle 7"/>
          <p:cNvSpPr/>
          <p:nvPr/>
        </p:nvSpPr>
        <p:spPr>
          <a:xfrm>
            <a:off x="914400" y="4297680"/>
            <a:ext cx="3291840" cy="1783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434840"/>
            <a:ext cx="2926080" cy="365760"/>
          </a:xfrm>
          <a:prstGeom prst="rect">
            <a:avLst/>
          </a:prstGeom>
          <a:noFill/>
        </p:spPr>
        <p:txBody>
          <a:bodyPr wrap="none">
            <a:spAutoFit/>
          </a:bodyPr>
          <a:lstStyle/>
          <a:p>
            <a:pPr>
              <a:defRPr sz="1300" b="1">
                <a:solidFill>
                  <a:srgbClr val="38BDF8"/>
                </a:solidFill>
                <a:latin typeface="Calibri"/>
              </a:defRPr>
            </a:pPr>
            <a:r>
              <a:t>01 / Temporal Integrity</a:t>
            </a:r>
          </a:p>
        </p:txBody>
      </p:sp>
      <p:sp>
        <p:nvSpPr>
          <p:cNvPr id="10" name="TextBox 9"/>
          <p:cNvSpPr txBox="1"/>
          <p:nvPr/>
        </p:nvSpPr>
        <p:spPr>
          <a:xfrm>
            <a:off x="1097280" y="4846320"/>
            <a:ext cx="2926080" cy="1143000"/>
          </a:xfrm>
          <a:prstGeom prst="rect">
            <a:avLst/>
          </a:prstGeom>
          <a:noFill/>
        </p:spPr>
        <p:txBody>
          <a:bodyPr wrap="square">
            <a:spAutoFit/>
          </a:bodyPr>
          <a:lstStyle/>
          <a:p>
            <a:pPr>
              <a:defRPr sz="1100">
                <a:solidFill>
                  <a:srgbClr val="CBD5E1"/>
                </a:solidFill>
                <a:latin typeface="Calibri"/>
              </a:defRPr>
            </a:pPr>
            <a:r>
              <a:t>90 continuous AMFI monthly statements (Apr 2019 – Sep 2026), zero-leakage shifted feature engineering, and 154 passing unit &amp; integration tests.</a:t>
            </a:r>
          </a:p>
        </p:txBody>
      </p:sp>
      <p:sp>
        <p:nvSpPr>
          <p:cNvPr id="11" name="Rounded Rectangle 10"/>
          <p:cNvSpPr/>
          <p:nvPr/>
        </p:nvSpPr>
        <p:spPr>
          <a:xfrm>
            <a:off x="4449470" y="4297680"/>
            <a:ext cx="3291840" cy="1783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2350" y="4434840"/>
            <a:ext cx="2926080" cy="365760"/>
          </a:xfrm>
          <a:prstGeom prst="rect">
            <a:avLst/>
          </a:prstGeom>
          <a:noFill/>
        </p:spPr>
        <p:txBody>
          <a:bodyPr wrap="none">
            <a:spAutoFit/>
          </a:bodyPr>
          <a:lstStyle/>
          <a:p>
            <a:pPr>
              <a:defRPr sz="1300" b="1">
                <a:solidFill>
                  <a:srgbClr val="60A5FA"/>
                </a:solidFill>
                <a:latin typeface="Calibri"/>
              </a:defRPr>
            </a:pPr>
            <a:r>
              <a:t>02 / Empirical Hierarchy</a:t>
            </a:r>
          </a:p>
        </p:txBody>
      </p:sp>
      <p:sp>
        <p:nvSpPr>
          <p:cNvPr id="13" name="TextBox 12"/>
          <p:cNvSpPr txBox="1"/>
          <p:nvPr/>
        </p:nvSpPr>
        <p:spPr>
          <a:xfrm>
            <a:off x="4632350" y="4846320"/>
            <a:ext cx="2926080" cy="1143000"/>
          </a:xfrm>
          <a:prstGeom prst="rect">
            <a:avLst/>
          </a:prstGeom>
          <a:noFill/>
        </p:spPr>
        <p:txBody>
          <a:bodyPr wrap="square">
            <a:spAutoFit/>
          </a:bodyPr>
          <a:lstStyle/>
          <a:p>
            <a:pPr>
              <a:defRPr sz="1100">
                <a:solidFill>
                  <a:srgbClr val="CBD5E1"/>
                </a:solidFill>
                <a:latin typeface="Calibri"/>
              </a:defRPr>
            </a:pPr>
            <a:r>
              <a:t>Four forecasting models evaluated across 24 expanding rolling backtests; SARIMAX and Seasonal-Naive selected based on empirical horizon skill.</a:t>
            </a:r>
          </a:p>
        </p:txBody>
      </p:sp>
      <p:sp>
        <p:nvSpPr>
          <p:cNvPr id="14" name="Rounded Rectangle 13"/>
          <p:cNvSpPr/>
          <p:nvPr/>
        </p:nvSpPr>
        <p:spPr>
          <a:xfrm>
            <a:off x="7984540" y="4297680"/>
            <a:ext cx="3291840" cy="17830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7420" y="4434840"/>
            <a:ext cx="2926080" cy="365760"/>
          </a:xfrm>
          <a:prstGeom prst="rect">
            <a:avLst/>
          </a:prstGeom>
          <a:noFill/>
        </p:spPr>
        <p:txBody>
          <a:bodyPr wrap="none">
            <a:spAutoFit/>
          </a:bodyPr>
          <a:lstStyle/>
          <a:p>
            <a:pPr>
              <a:defRPr sz="1300" b="1">
                <a:solidFill>
                  <a:srgbClr val="34D399"/>
                </a:solidFill>
                <a:latin typeface="Calibri"/>
              </a:defRPr>
            </a:pPr>
            <a:r>
              <a:t>03 / Solvency Buffer Engine</a:t>
            </a:r>
          </a:p>
        </p:txBody>
      </p:sp>
      <p:sp>
        <p:nvSpPr>
          <p:cNvPr id="16" name="TextBox 15"/>
          <p:cNvSpPr txBox="1"/>
          <p:nvPr/>
        </p:nvSpPr>
        <p:spPr>
          <a:xfrm>
            <a:off x="8167420" y="4846320"/>
            <a:ext cx="2926080" cy="1143000"/>
          </a:xfrm>
          <a:prstGeom prst="rect">
            <a:avLst/>
          </a:prstGeom>
          <a:noFill/>
        </p:spPr>
        <p:txBody>
          <a:bodyPr wrap="square">
            <a:spAutoFit/>
          </a:bodyPr>
          <a:lstStyle/>
          <a:p>
            <a:pPr>
              <a:defRPr sz="1100">
                <a:solidFill>
                  <a:srgbClr val="CBD5E1"/>
                </a:solidFill>
                <a:latin typeface="Calibri"/>
              </a:defRPr>
            </a:pPr>
            <a:r>
              <a:t>Two-tier liquidity sizing combining operational floor with peak cumulative downside deficit under conservative comonotonic stress.</a:t>
            </a:r>
          </a:p>
        </p:txBody>
      </p:sp>
      <p:sp>
        <p:nvSpPr>
          <p:cNvPr id="17" name="Rectangle 16"/>
          <p:cNvSpPr/>
          <p:nvPr/>
        </p:nvSpPr>
        <p:spPr>
          <a:xfrm>
            <a:off x="731520" y="626364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6327648"/>
            <a:ext cx="5303520" cy="320040"/>
          </a:xfrm>
          <a:prstGeom prst="rect">
            <a:avLst/>
          </a:prstGeom>
          <a:noFill/>
        </p:spPr>
        <p:txBody>
          <a:bodyPr wrap="none" lIns="0" rIns="0" tIns="0" bIns="0">
            <a:spAutoFit/>
          </a:bodyPr>
          <a:lstStyle/>
          <a:p>
            <a:pPr>
              <a:defRPr sz="900">
                <a:solidFill>
                  <a:srgbClr val="94A3B8"/>
                </a:solidFill>
                <a:latin typeface="Calibri"/>
              </a:defRPr>
            </a:pPr>
            <a:r>
              <a:t>FINHYPE | Zeckathon 2026 · Problem Statement 3 | Origin: Sep 2026 · Target: Oct–Dec 2026</a:t>
            </a:r>
          </a:p>
        </p:txBody>
      </p:sp>
      <p:sp>
        <p:nvSpPr>
          <p:cNvPr id="19" name="TextBox 18"/>
          <p:cNvSpPr txBox="1"/>
          <p:nvPr/>
        </p:nvSpPr>
        <p:spPr>
          <a:xfrm>
            <a:off x="6035040" y="6327648"/>
            <a:ext cx="4846320" cy="320040"/>
          </a:xfrm>
          <a:prstGeom prst="rect">
            <a:avLst/>
          </a:prstGeom>
          <a:noFill/>
        </p:spPr>
        <p:txBody>
          <a:bodyPr wrap="none" lIns="0" rIns="0" tIns="0" bIns="0">
            <a:spAutoFit/>
          </a:bodyPr>
          <a:lstStyle/>
          <a:p>
            <a:pPr algn="r">
              <a:defRPr sz="850" i="1">
                <a:solidFill>
                  <a:srgbClr val="94A3B8"/>
                </a:solidFill>
                <a:latin typeface="Calibri"/>
              </a:defRPr>
            </a:pPr>
            <a:r>
              <a:t>Source: AMFI Official Data; Forecast Origin: September 2026</a:t>
            </a:r>
          </a:p>
        </p:txBody>
      </p:sp>
      <p:sp>
        <p:nvSpPr>
          <p:cNvPr id="20" name="TextBox 19"/>
          <p:cNvSpPr txBox="1"/>
          <p:nvPr/>
        </p:nvSpPr>
        <p:spPr>
          <a:xfrm>
            <a:off x="10972800" y="6327648"/>
            <a:ext cx="487375" cy="320040"/>
          </a:xfrm>
          <a:prstGeom prst="rect">
            <a:avLst/>
          </a:prstGeom>
          <a:noFill/>
        </p:spPr>
        <p:txBody>
          <a:bodyPr wrap="none" lIns="0" rIns="0" tIns="0" bIns="0">
            <a:spAutoFit/>
          </a:bodyPr>
          <a:lstStyle/>
          <a:p>
            <a:pPr algn="r">
              <a:defRPr sz="950" b="1">
                <a:solidFill>
                  <a:srgbClr val="60A5FA"/>
                </a:solidFill>
                <a:latin typeface="Calibri"/>
              </a:defRPr>
            </a:pPr>
            <a:r>
              <a:t>1 /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92608"/>
          </a:xfrm>
          <a:prstGeom prst="rect">
            <a:avLst/>
          </a:prstGeom>
          <a:noFill/>
        </p:spPr>
        <p:txBody>
          <a:bodyPr wrap="square" lIns="0" rIns="0" tIns="0" bIns="0">
            <a:spAutoFit/>
          </a:bodyPr>
          <a:lstStyle/>
          <a:p>
            <a:pPr>
              <a:defRPr sz="1050" b="1">
                <a:solidFill>
                  <a:srgbClr val="38BDF8"/>
                </a:solidFill>
                <a:latin typeface="Calibri"/>
              </a:defRPr>
            </a:pPr>
            <a:r>
              <a:t>PROBLEM CONTEXT</a:t>
            </a:r>
          </a:p>
        </p:txBody>
      </p:sp>
      <p:sp>
        <p:nvSpPr>
          <p:cNvPr id="4" name="TextBox 3"/>
          <p:cNvSpPr txBox="1"/>
          <p:nvPr/>
        </p:nvSpPr>
        <p:spPr>
          <a:xfrm>
            <a:off x="731520" y="621792"/>
            <a:ext cx="10728655" cy="502920"/>
          </a:xfrm>
          <a:prstGeom prst="rect">
            <a:avLst/>
          </a:prstGeom>
          <a:noFill/>
        </p:spPr>
        <p:txBody>
          <a:bodyPr wrap="square" lIns="0" rIns="0" tIns="0" bIns="0">
            <a:spAutoFit/>
          </a:bodyPr>
          <a:lstStyle/>
          <a:p>
            <a:pPr>
              <a:defRPr sz="2200" b="1">
                <a:solidFill>
                  <a:srgbClr val="F8FAFC"/>
                </a:solidFill>
                <a:latin typeface="Calibri"/>
              </a:defRPr>
            </a:pPr>
            <a:r>
              <a:t>The Liquidity Sizing Problem in Indian Debt Mutual Funds</a:t>
            </a:r>
          </a:p>
        </p:txBody>
      </p:sp>
      <p:sp>
        <p:nvSpPr>
          <p:cNvPr id="5" name="Rectangle 4"/>
          <p:cNvSpPr/>
          <p:nvPr/>
        </p:nvSpPr>
        <p:spPr>
          <a:xfrm>
            <a:off x="731520" y="118872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383280" cy="4709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536192"/>
            <a:ext cx="2980944" cy="4389120"/>
          </a:xfrm>
          <a:prstGeom prst="rect">
            <a:avLst/>
          </a:prstGeom>
          <a:noFill/>
        </p:spPr>
        <p:txBody>
          <a:bodyPr wrap="square">
            <a:spAutoFit/>
          </a:bodyPr>
          <a:lstStyle/>
          <a:p>
            <a:pPr>
              <a:spcAft>
                <a:spcPts val="1200"/>
              </a:spcAft>
              <a:defRPr sz="1500" b="1">
                <a:solidFill>
                  <a:srgbClr val="38BDF8"/>
                </a:solidFill>
                <a:latin typeface="Calibri"/>
              </a:defRPr>
            </a:pPr>
            <a:r>
              <a:t>Corporate Advance-Tax Cycles</a:t>
            </a:r>
          </a:p>
          <a:p>
            <a:pPr>
              <a:spcAft>
                <a:spcPts val="1000"/>
              </a:spcAft>
            </a:pPr>
            <a:r>
              <a:rPr b="1" sz="1200">
                <a:solidFill>
                  <a:srgbClr val="F8FAFC"/>
                </a:solidFill>
                <a:latin typeface="Calibri"/>
              </a:rPr>
              <a:t>Predictable Cash Drains: </a:t>
            </a:r>
            <a:r>
              <a:rPr sz="1100">
                <a:solidFill>
                  <a:srgbClr val="CBD5E1"/>
                </a:solidFill>
                <a:latin typeface="Calibri"/>
              </a:rPr>
              <a:t>Indian corporate treasuries treat Liquid and Overnight fund units as operational cash accounts. Every quarter (Mar, Jun, Sep, Dec), corporations withdraw tens of thousands of crores to pay advance tax installments.</a:t>
            </a:r>
          </a:p>
          <a:p>
            <a:pPr>
              <a:spcAft>
                <a:spcPts val="1000"/>
              </a:spcAft>
            </a:pPr>
            <a:r>
              <a:rPr b="1" sz="1200">
                <a:solidFill>
                  <a:srgbClr val="F8FAFC"/>
                </a:solidFill>
                <a:latin typeface="Calibri"/>
              </a:rPr>
              <a:t>Post-Quarter Inflow Surges: </a:t>
            </a:r>
            <a:r>
              <a:rPr sz="1100">
                <a:solidFill>
                  <a:srgbClr val="CBD5E1"/>
                </a:solidFill>
                <a:latin typeface="Calibri"/>
              </a:rPr>
              <a:t>Following advance-tax deadlines, corporate liquidity returns in the subsequent month (Apr, Jul, Oct, Jan) as operating revenues replenish treasury balances.</a:t>
            </a:r>
          </a:p>
          <a:p>
            <a:pPr>
              <a:spcAft>
                <a:spcPts val="600"/>
              </a:spcAft>
            </a:pPr>
            <a:r>
              <a:rPr b="1" sz="1200">
                <a:solidFill>
                  <a:srgbClr val="F8FAFC"/>
                </a:solidFill>
                <a:latin typeface="Calibri"/>
              </a:rPr>
              <a:t>December 2026 Projection: </a:t>
            </a:r>
            <a:r>
              <a:rPr sz="1100">
                <a:solidFill>
                  <a:srgbClr val="F87171"/>
                </a:solidFill>
                <a:latin typeface="Calibri"/>
              </a:rPr>
              <a:t>SARIMAX forecasts a severe net drain of -₹50,618.62 Cr for Liquid Funds in December 2026 (lower 80% bound: -₹89,235.07 Cr).</a:t>
            </a:r>
          </a:p>
        </p:txBody>
      </p:sp>
      <p:sp>
        <p:nvSpPr>
          <p:cNvPr id="8" name="Rounded Rectangle 7"/>
          <p:cNvSpPr/>
          <p:nvPr/>
        </p:nvSpPr>
        <p:spPr>
          <a:xfrm>
            <a:off x="4403750" y="1371600"/>
            <a:ext cx="3383280" cy="4709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4918" y="1536192"/>
            <a:ext cx="2980944" cy="4389120"/>
          </a:xfrm>
          <a:prstGeom prst="rect">
            <a:avLst/>
          </a:prstGeom>
          <a:noFill/>
        </p:spPr>
        <p:txBody>
          <a:bodyPr wrap="square">
            <a:spAutoFit/>
          </a:bodyPr>
          <a:lstStyle/>
          <a:p>
            <a:pPr>
              <a:spcAft>
                <a:spcPts val="1200"/>
              </a:spcAft>
              <a:defRPr sz="1500" b="1">
                <a:solidFill>
                  <a:srgbClr val="60A5FA"/>
                </a:solidFill>
                <a:latin typeface="Calibri"/>
              </a:defRPr>
            </a:pPr>
            <a:r>
              <a:t>Liquid vs. Overnight Velocity</a:t>
            </a:r>
          </a:p>
          <a:p>
            <a:pPr>
              <a:spcAft>
                <a:spcPts val="1000"/>
              </a:spcAft>
            </a:pPr>
            <a:r>
              <a:rPr b="1" sz="1200">
                <a:solidFill>
                  <a:srgbClr val="F8FAFC"/>
                </a:solidFill>
                <a:latin typeface="Calibri"/>
              </a:rPr>
              <a:t>Liquid Funds (~₹6.26L Cr AUM): </a:t>
            </a:r>
            <a:r>
              <a:rPr sz="1100">
                <a:solidFill>
                  <a:srgbClr val="CBD5E1"/>
                </a:solidFill>
                <a:latin typeface="Calibri"/>
              </a:rPr>
              <a:t>Average monthly redemptions are ~₹4.64 lakh Cr (~104% of AUM; median 74%), turning over ~1.0x of fund assets monthly.</a:t>
            </a:r>
          </a:p>
          <a:p>
            <a:pPr>
              <a:spcAft>
                <a:spcPts val="1000"/>
              </a:spcAft>
            </a:pPr>
            <a:r>
              <a:rPr b="1" sz="1200">
                <a:solidFill>
                  <a:srgbClr val="F8FAFC"/>
                </a:solidFill>
                <a:latin typeface="Calibri"/>
              </a:rPr>
              <a:t>Overnight Funds (~₹84K Cr AUM): </a:t>
            </a:r>
            <a:r>
              <a:rPr sz="1100">
                <a:solidFill>
                  <a:srgbClr val="CBD5E1"/>
                </a:solidFill>
                <a:latin typeface="Calibri"/>
              </a:rPr>
              <a:t>Average monthly redemptions are ~₹4.22 lakh Cr (~545% of AUM; median 504%), turning over 5.45x of fund assets monthly.</a:t>
            </a:r>
          </a:p>
          <a:p>
            <a:pPr>
              <a:spcAft>
                <a:spcPts val="600"/>
              </a:spcAft>
            </a:pPr>
            <a:r>
              <a:rPr b="1" sz="1200">
                <a:solidFill>
                  <a:srgbClr val="F8FAFC"/>
                </a:solidFill>
                <a:latin typeface="Calibri"/>
              </a:rPr>
              <a:t>&gt;5x Velocity Gap: </a:t>
            </a:r>
            <a:r>
              <a:rPr sz="1100">
                <a:solidFill>
                  <a:srgbClr val="FBBF24"/>
                </a:solidFill>
                <a:latin typeface="Calibri"/>
              </a:rPr>
              <a:t>Overnight Funds turn over their asset base more than 5 times faster than Liquid Funds, making them acutely sensitive to gross repurchase volatility.</a:t>
            </a:r>
          </a:p>
        </p:txBody>
      </p:sp>
      <p:sp>
        <p:nvSpPr>
          <p:cNvPr id="10" name="Rounded Rectangle 9"/>
          <p:cNvSpPr/>
          <p:nvPr/>
        </p:nvSpPr>
        <p:spPr>
          <a:xfrm>
            <a:off x="8075980" y="1371600"/>
            <a:ext cx="3383280" cy="4709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7148" y="1536192"/>
            <a:ext cx="2980944" cy="4389120"/>
          </a:xfrm>
          <a:prstGeom prst="rect">
            <a:avLst/>
          </a:prstGeom>
          <a:noFill/>
        </p:spPr>
        <p:txBody>
          <a:bodyPr wrap="square">
            <a:spAutoFit/>
          </a:bodyPr>
          <a:lstStyle/>
          <a:p>
            <a:pPr>
              <a:spcAft>
                <a:spcPts val="1200"/>
              </a:spcAft>
              <a:defRPr sz="1500" b="1">
                <a:solidFill>
                  <a:srgbClr val="F87171"/>
                </a:solidFill>
                <a:latin typeface="Calibri"/>
              </a:defRPr>
            </a:pPr>
            <a:r>
              <a:t>The Asymmetric Cost of Error</a:t>
            </a:r>
          </a:p>
          <a:p>
            <a:pPr>
              <a:spcAft>
                <a:spcPts val="1000"/>
              </a:spcAft>
            </a:pPr>
            <a:r>
              <a:rPr b="1" sz="1200">
                <a:solidFill>
                  <a:srgbClr val="F8FAFC"/>
                </a:solidFill>
                <a:latin typeface="Calibri"/>
              </a:rPr>
              <a:t>Under-Buffering (Solvency Risk): </a:t>
            </a:r>
            <a:r>
              <a:rPr sz="1100">
                <a:solidFill>
                  <a:srgbClr val="CBD5E1"/>
                </a:solidFill>
                <a:latin typeface="Calibri"/>
              </a:rPr>
              <a:t>Underestimating net outflows forces distress fire-sales of commercial papers/T-bills or costly emergency borrowing in repo markets at punitive rates, triggering reputation damage.</a:t>
            </a:r>
          </a:p>
          <a:p>
            <a:pPr>
              <a:spcAft>
                <a:spcPts val="1000"/>
              </a:spcAft>
            </a:pPr>
            <a:r>
              <a:rPr b="1" sz="1200">
                <a:solidFill>
                  <a:srgbClr val="F8FAFC"/>
                </a:solidFill>
                <a:latin typeface="Calibri"/>
              </a:rPr>
              <a:t>Over-Buffering (Yield Drag): </a:t>
            </a:r>
            <a:r>
              <a:rPr sz="1100">
                <a:solidFill>
                  <a:srgbClr val="CBD5E1"/>
                </a:solidFill>
                <a:latin typeface="Calibri"/>
              </a:rPr>
              <a:t>Holding excessive uninvested cash depresses fund yields. In basis-point competitive markets, a 10 bps yield drag triggers massive institutional flight to competing AMCs.</a:t>
            </a:r>
          </a:p>
          <a:p>
            <a:pPr>
              <a:spcAft>
                <a:spcPts val="600"/>
              </a:spcAft>
            </a:pPr>
            <a:r>
              <a:rPr b="1" sz="1200">
                <a:solidFill>
                  <a:srgbClr val="F8FAFC"/>
                </a:solidFill>
                <a:latin typeface="Calibri"/>
              </a:rPr>
              <a:t>The Core Technical Gap: </a:t>
            </a:r>
            <a:r>
              <a:rPr sz="1100">
                <a:solidFill>
                  <a:srgbClr val="38BDF8"/>
                </a:solidFill>
                <a:latin typeface="Calibri"/>
              </a:rPr>
              <a:t>Point forecasting (E[Y]) tells expected flows, not required solvency cash. Sizing requires empirical downside error calibration across multi-month horizons.</a:t>
            </a:r>
          </a:p>
        </p:txBody>
      </p:sp>
      <p:sp>
        <p:nvSpPr>
          <p:cNvPr id="12" name="Rectangle 11"/>
          <p:cNvSpPr/>
          <p:nvPr/>
        </p:nvSpPr>
        <p:spPr>
          <a:xfrm>
            <a:off x="731520" y="626364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27648"/>
            <a:ext cx="5303520" cy="320040"/>
          </a:xfrm>
          <a:prstGeom prst="rect">
            <a:avLst/>
          </a:prstGeom>
          <a:noFill/>
        </p:spPr>
        <p:txBody>
          <a:bodyPr wrap="none" lIns="0" rIns="0" tIns="0" bIns="0">
            <a:spAutoFit/>
          </a:bodyPr>
          <a:lstStyle/>
          <a:p>
            <a:pPr>
              <a:defRPr sz="900">
                <a:solidFill>
                  <a:srgbClr val="94A3B8"/>
                </a:solidFill>
                <a:latin typeface="Calibri"/>
              </a:defRPr>
            </a:pPr>
            <a:r>
              <a:t>FINHYPE | Zeckathon 2026 · Problem Statement 3 | Origin: Sep 2026 · Target: Oct–Dec 2026</a:t>
            </a:r>
          </a:p>
        </p:txBody>
      </p:sp>
      <p:sp>
        <p:nvSpPr>
          <p:cNvPr id="14" name="TextBox 13"/>
          <p:cNvSpPr txBox="1"/>
          <p:nvPr/>
        </p:nvSpPr>
        <p:spPr>
          <a:xfrm>
            <a:off x="6035040" y="6327648"/>
            <a:ext cx="4846320" cy="320040"/>
          </a:xfrm>
          <a:prstGeom prst="rect">
            <a:avLst/>
          </a:prstGeom>
          <a:noFill/>
        </p:spPr>
        <p:txBody>
          <a:bodyPr wrap="none" lIns="0" rIns="0" tIns="0" bIns="0">
            <a:spAutoFit/>
          </a:bodyPr>
          <a:lstStyle/>
          <a:p>
            <a:pPr algn="r">
              <a:defRPr sz="850" i="1">
                <a:solidFill>
                  <a:srgbClr val="94A3B8"/>
                </a:solidFill>
                <a:latin typeface="Calibri"/>
              </a:defRPr>
            </a:pPr>
            <a:r>
              <a:t>Source: AMFI Monthly Statements (Apr 2019 – Sep 2026); data/processed/fund_flows_monthly.csv</a:t>
            </a:r>
          </a:p>
        </p:txBody>
      </p:sp>
      <p:sp>
        <p:nvSpPr>
          <p:cNvPr id="15" name="TextBox 14"/>
          <p:cNvSpPr txBox="1"/>
          <p:nvPr/>
        </p:nvSpPr>
        <p:spPr>
          <a:xfrm>
            <a:off x="10972800" y="6327648"/>
            <a:ext cx="487375" cy="320040"/>
          </a:xfrm>
          <a:prstGeom prst="rect">
            <a:avLst/>
          </a:prstGeom>
          <a:noFill/>
        </p:spPr>
        <p:txBody>
          <a:bodyPr wrap="none" lIns="0" rIns="0" tIns="0" bIns="0">
            <a:spAutoFit/>
          </a:bodyPr>
          <a:lstStyle/>
          <a:p>
            <a:pPr algn="r">
              <a:defRPr sz="950" b="1">
                <a:solidFill>
                  <a:srgbClr val="60A5FA"/>
                </a:solidFill>
                <a:latin typeface="Calibri"/>
              </a:defRPr>
            </a:pPr>
            <a:r>
              <a:t>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92608"/>
          </a:xfrm>
          <a:prstGeom prst="rect">
            <a:avLst/>
          </a:prstGeom>
          <a:noFill/>
        </p:spPr>
        <p:txBody>
          <a:bodyPr wrap="square" lIns="0" rIns="0" tIns="0" bIns="0">
            <a:spAutoFit/>
          </a:bodyPr>
          <a:lstStyle/>
          <a:p>
            <a:pPr>
              <a:defRPr sz="1050" b="1">
                <a:solidFill>
                  <a:srgbClr val="38BDF8"/>
                </a:solidFill>
                <a:latin typeface="Calibri"/>
              </a:defRPr>
            </a:pPr>
            <a:r>
              <a:t>DATA ENGINEERING</a:t>
            </a:r>
          </a:p>
        </p:txBody>
      </p:sp>
      <p:sp>
        <p:nvSpPr>
          <p:cNvPr id="4" name="TextBox 3"/>
          <p:cNvSpPr txBox="1"/>
          <p:nvPr/>
        </p:nvSpPr>
        <p:spPr>
          <a:xfrm>
            <a:off x="731520" y="621792"/>
            <a:ext cx="10728655" cy="502920"/>
          </a:xfrm>
          <a:prstGeom prst="rect">
            <a:avLst/>
          </a:prstGeom>
          <a:noFill/>
        </p:spPr>
        <p:txBody>
          <a:bodyPr wrap="square" lIns="0" rIns="0" tIns="0" bIns="0">
            <a:spAutoFit/>
          </a:bodyPr>
          <a:lstStyle/>
          <a:p>
            <a:pPr>
              <a:defRPr sz="2200" b="1">
                <a:solidFill>
                  <a:srgbClr val="F8FAFC"/>
                </a:solidFill>
                <a:latin typeface="Calibri"/>
              </a:defRPr>
            </a:pPr>
            <a:r>
              <a:t>Data Foundation: 90 Continuous Months &amp; Multi-Stage Validation</a:t>
            </a:r>
          </a:p>
        </p:txBody>
      </p:sp>
      <p:sp>
        <p:nvSpPr>
          <p:cNvPr id="5" name="Rectangle 4"/>
          <p:cNvSpPr/>
          <p:nvPr/>
        </p:nvSpPr>
        <p:spPr>
          <a:xfrm>
            <a:off x="731520" y="118872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2514600" cy="2514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36192"/>
            <a:ext cx="2185416" cy="2194560"/>
          </a:xfrm>
          <a:prstGeom prst="rect">
            <a:avLst/>
          </a:prstGeom>
          <a:noFill/>
        </p:spPr>
        <p:txBody>
          <a:bodyPr wrap="square">
            <a:spAutoFit/>
          </a:bodyPr>
          <a:lstStyle/>
          <a:p>
            <a:pPr>
              <a:spcAft>
                <a:spcPts val="800"/>
              </a:spcAft>
              <a:defRPr sz="1300" b="1">
                <a:solidFill>
                  <a:srgbClr val="38BDF8"/>
                </a:solidFill>
                <a:latin typeface="Calibri"/>
              </a:defRPr>
            </a:pPr>
            <a:r>
              <a:t>AMFI Monthly Statements</a:t>
            </a:r>
          </a:p>
          <a:p>
            <a:pPr>
              <a:defRPr sz="1050">
                <a:solidFill>
                  <a:srgbClr val="CBD5E1"/>
                </a:solidFill>
                <a:latin typeface="Calibri"/>
              </a:defRPr>
            </a:pPr>
            <a:r>
              <a:t>90 consecutive monthly statements from Apr 2019 to Sep 2026 (180 category records) across Liquid and Overnight funds.</a:t>
            </a:r>
          </a:p>
        </p:txBody>
      </p:sp>
      <p:sp>
        <p:nvSpPr>
          <p:cNvPr id="8" name="Rounded Rectangle 7"/>
          <p:cNvSpPr/>
          <p:nvPr/>
        </p:nvSpPr>
        <p:spPr>
          <a:xfrm>
            <a:off x="3469233" y="1371600"/>
            <a:ext cx="2514600" cy="2514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3825" y="1536192"/>
            <a:ext cx="2185416" cy="2194560"/>
          </a:xfrm>
          <a:prstGeom prst="rect">
            <a:avLst/>
          </a:prstGeom>
          <a:noFill/>
        </p:spPr>
        <p:txBody>
          <a:bodyPr wrap="square">
            <a:spAutoFit/>
          </a:bodyPr>
          <a:lstStyle/>
          <a:p>
            <a:pPr>
              <a:spcAft>
                <a:spcPts val="800"/>
              </a:spcAft>
              <a:defRPr sz="1300" b="1">
                <a:solidFill>
                  <a:srgbClr val="60A5FA"/>
                </a:solidFill>
                <a:latin typeface="Calibri"/>
              </a:defRPr>
            </a:pPr>
            <a:r>
              <a:t>Format Normalization</a:t>
            </a:r>
          </a:p>
          <a:p>
            <a:pPr>
              <a:defRPr sz="1050">
                <a:solidFill>
                  <a:srgbClr val="CBD5E1"/>
                </a:solidFill>
                <a:latin typeface="Calibri"/>
              </a:defRPr>
            </a:pPr>
            <a:r>
              <a:t>Automated regex parser standardizes 7+ years of AMFI layout shifts, header renames, and Indian number formatting conventions.</a:t>
            </a:r>
          </a:p>
        </p:txBody>
      </p:sp>
      <p:sp>
        <p:nvSpPr>
          <p:cNvPr id="10" name="Rounded Rectangle 9"/>
          <p:cNvSpPr/>
          <p:nvPr/>
        </p:nvSpPr>
        <p:spPr>
          <a:xfrm>
            <a:off x="6206947" y="1371600"/>
            <a:ext cx="2514600" cy="2514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1539" y="1536192"/>
            <a:ext cx="2185416" cy="2194560"/>
          </a:xfrm>
          <a:prstGeom prst="rect">
            <a:avLst/>
          </a:prstGeom>
          <a:noFill/>
        </p:spPr>
        <p:txBody>
          <a:bodyPr wrap="square">
            <a:spAutoFit/>
          </a:bodyPr>
          <a:lstStyle/>
          <a:p>
            <a:pPr>
              <a:spcAft>
                <a:spcPts val="800"/>
              </a:spcAft>
              <a:defRPr sz="1300" b="1">
                <a:solidFill>
                  <a:srgbClr val="34D399"/>
                </a:solidFill>
                <a:latin typeface="Calibri"/>
              </a:defRPr>
            </a:pPr>
            <a:r>
              <a:t>Accounting Invariance</a:t>
            </a:r>
          </a:p>
          <a:p>
            <a:pPr>
              <a:defRPr sz="1050">
                <a:solidFill>
                  <a:srgbClr val="CBD5E1"/>
                </a:solidFill>
                <a:latin typeface="Calibri"/>
              </a:defRPr>
            </a:pPr>
            <a:r>
              <a:t>Zero-tolerance accounting reconciliation check on every historical record: |Net Flow - (Mobilised - Repurchase)| &lt;= 0.01 Cr.</a:t>
            </a:r>
          </a:p>
        </p:txBody>
      </p:sp>
      <p:sp>
        <p:nvSpPr>
          <p:cNvPr id="12" name="Rounded Rectangle 11"/>
          <p:cNvSpPr/>
          <p:nvPr/>
        </p:nvSpPr>
        <p:spPr>
          <a:xfrm>
            <a:off x="8944660" y="1371600"/>
            <a:ext cx="2514600" cy="2514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9252" y="1536192"/>
            <a:ext cx="2185416" cy="2194560"/>
          </a:xfrm>
          <a:prstGeom prst="rect">
            <a:avLst/>
          </a:prstGeom>
          <a:noFill/>
        </p:spPr>
        <p:txBody>
          <a:bodyPr wrap="square">
            <a:spAutoFit/>
          </a:bodyPr>
          <a:lstStyle/>
          <a:p>
            <a:pPr>
              <a:spcAft>
                <a:spcPts val="800"/>
              </a:spcAft>
              <a:defRPr sz="1300" b="1">
                <a:solidFill>
                  <a:srgbClr val="FBBF24"/>
                </a:solidFill>
                <a:latin typeface="Calibri"/>
              </a:defRPr>
            </a:pPr>
            <a:r>
              <a:t>Exogenous Macro Drivers</a:t>
            </a:r>
          </a:p>
          <a:p>
            <a:pPr>
              <a:defRPr sz="1050">
                <a:solidFill>
                  <a:srgbClr val="CBD5E1"/>
                </a:solidFill>
                <a:latin typeface="Calibri"/>
              </a:defRPr>
            </a:pPr>
            <a:r>
              <a:t>RBI Repo Rate corridor (4.00% pandemic low to 6.50% peak [Feb 2023–Jan 2025], eased to 5.25% at Sep 2026) and NSE Nifty 50 returns.</a:t>
            </a:r>
          </a:p>
        </p:txBody>
      </p:sp>
      <p:sp>
        <p:nvSpPr>
          <p:cNvPr id="14" name="Rounded Rectangle 13"/>
          <p:cNvSpPr/>
          <p:nvPr/>
        </p:nvSpPr>
        <p:spPr>
          <a:xfrm>
            <a:off x="731520" y="4069080"/>
            <a:ext cx="10728655"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206240"/>
            <a:ext cx="10271455" cy="1737360"/>
          </a:xfrm>
          <a:prstGeom prst="rect">
            <a:avLst/>
          </a:prstGeom>
          <a:noFill/>
        </p:spPr>
        <p:txBody>
          <a:bodyPr wrap="square">
            <a:spAutoFit/>
          </a:bodyPr>
          <a:lstStyle/>
          <a:p>
            <a:pPr>
              <a:spcAft>
                <a:spcPts val="800"/>
              </a:spcAft>
              <a:defRPr sz="1400" b="1">
                <a:solidFill>
                  <a:srgbClr val="F8FAFC"/>
                </a:solidFill>
                <a:latin typeface="Calibri"/>
              </a:defRPr>
            </a:pPr>
            <a:r>
              <a:t>Relational SQLite Storage &amp; Strict Temporal Macro Protection</a:t>
            </a:r>
          </a:p>
          <a:p>
            <a:pPr>
              <a:spcAft>
                <a:spcPts val="800"/>
              </a:spcAft>
            </a:pPr>
            <a:r>
              <a:rPr b="1" sz="1200">
                <a:solidFill>
                  <a:srgbClr val="F8FAFC"/>
                </a:solidFill>
                <a:latin typeface="Calibri"/>
              </a:rPr>
              <a:t>ACID Relational Storage (data/finhype.db): </a:t>
            </a:r>
            <a:r>
              <a:rPr sz="1100">
                <a:solidFill>
                  <a:srgbClr val="CBD5E1"/>
                </a:solidFill>
                <a:latin typeface="Calibri"/>
              </a:rPr>
              <a:t>Normalized SQLite schema with composite unique constraints on (month, category). Idempotent ingestion ensures corrupt or partial batches trigger complete transaction rollback.</a:t>
            </a:r>
          </a:p>
          <a:p>
            <a:pPr>
              <a:spcAft>
                <a:spcPts val="800"/>
              </a:spcAft>
            </a:pPr>
            <a:r>
              <a:rPr b="1" sz="1200">
                <a:solidFill>
                  <a:srgbClr val="F8FAFC"/>
                </a:solidFill>
                <a:latin typeface="Calibri"/>
              </a:rPr>
              <a:t>Zero Synthetic Imputation: </a:t>
            </a:r>
            <a:r>
              <a:rPr sz="1100">
                <a:solidFill>
                  <a:srgbClr val="CBD5E1"/>
                </a:solidFill>
                <a:latin typeface="Calibri"/>
              </a:rPr>
              <a:t>Every single observation represents real AMFI disclosures; no synthetic smoothing, forward filling, or unrecorded discontinuities exist.</a:t>
            </a:r>
          </a:p>
          <a:p>
            <a:pPr>
              <a:spcAft>
                <a:spcPts val="400"/>
              </a:spcAft>
            </a:pPr>
            <a:r>
              <a:rPr b="1" sz="1200">
                <a:solidFill>
                  <a:srgbClr val="F8FAFC"/>
                </a:solidFill>
                <a:latin typeface="Calibri"/>
              </a:rPr>
              <a:t>Constant Forward Macro Assumption: </a:t>
            </a:r>
            <a:r>
              <a:rPr sz="1100">
                <a:solidFill>
                  <a:srgbClr val="38BDF8"/>
                </a:solidFill>
                <a:latin typeface="Calibri"/>
              </a:rPr>
              <a:t>Multi-step forward forecasts strictly enforce Delta Repo = 0 and Nifty Return = 0 for future horizons (h=1..3), preventing speculative central bank policy bets from leaking into forward projections.</a:t>
            </a:r>
          </a:p>
        </p:txBody>
      </p:sp>
      <p:sp>
        <p:nvSpPr>
          <p:cNvPr id="16" name="Rectangle 15"/>
          <p:cNvSpPr/>
          <p:nvPr/>
        </p:nvSpPr>
        <p:spPr>
          <a:xfrm>
            <a:off x="731520" y="626364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327648"/>
            <a:ext cx="5303520" cy="320040"/>
          </a:xfrm>
          <a:prstGeom prst="rect">
            <a:avLst/>
          </a:prstGeom>
          <a:noFill/>
        </p:spPr>
        <p:txBody>
          <a:bodyPr wrap="none" lIns="0" rIns="0" tIns="0" bIns="0">
            <a:spAutoFit/>
          </a:bodyPr>
          <a:lstStyle/>
          <a:p>
            <a:pPr>
              <a:defRPr sz="900">
                <a:solidFill>
                  <a:srgbClr val="94A3B8"/>
                </a:solidFill>
                <a:latin typeface="Calibri"/>
              </a:defRPr>
            </a:pPr>
            <a:r>
              <a:t>FINHYPE | Zeckathon 2026 · Problem Statement 3 | Origin: Sep 2026 · Target: Oct–Dec 2026</a:t>
            </a:r>
          </a:p>
        </p:txBody>
      </p:sp>
      <p:sp>
        <p:nvSpPr>
          <p:cNvPr id="18" name="TextBox 17"/>
          <p:cNvSpPr txBox="1"/>
          <p:nvPr/>
        </p:nvSpPr>
        <p:spPr>
          <a:xfrm>
            <a:off x="6035040" y="6327648"/>
            <a:ext cx="4846320" cy="320040"/>
          </a:xfrm>
          <a:prstGeom prst="rect">
            <a:avLst/>
          </a:prstGeom>
          <a:noFill/>
        </p:spPr>
        <p:txBody>
          <a:bodyPr wrap="none" lIns="0" rIns="0" tIns="0" bIns="0">
            <a:spAutoFit/>
          </a:bodyPr>
          <a:lstStyle/>
          <a:p>
            <a:pPr algn="r">
              <a:defRPr sz="850" i="1">
                <a:solidFill>
                  <a:srgbClr val="94A3B8"/>
                </a:solidFill>
                <a:latin typeface="Calibri"/>
              </a:defRPr>
            </a:pPr>
            <a:r>
              <a:t>Source: AMFI Statements, RBI MPC Policy Documents (4.00%–6.50%), NSE Nifty 50; app/data/</a:t>
            </a:r>
          </a:p>
        </p:txBody>
      </p:sp>
      <p:sp>
        <p:nvSpPr>
          <p:cNvPr id="19" name="TextBox 18"/>
          <p:cNvSpPr txBox="1"/>
          <p:nvPr/>
        </p:nvSpPr>
        <p:spPr>
          <a:xfrm>
            <a:off x="10972800" y="6327648"/>
            <a:ext cx="487375" cy="320040"/>
          </a:xfrm>
          <a:prstGeom prst="rect">
            <a:avLst/>
          </a:prstGeom>
          <a:noFill/>
        </p:spPr>
        <p:txBody>
          <a:bodyPr wrap="none" lIns="0" rIns="0" tIns="0" bIns="0">
            <a:spAutoFit/>
          </a:bodyPr>
          <a:lstStyle/>
          <a:p>
            <a:pPr algn="r">
              <a:defRPr sz="950" b="1">
                <a:solidFill>
                  <a:srgbClr val="60A5FA"/>
                </a:solidFill>
                <a:latin typeface="Calibri"/>
              </a:defRPr>
            </a:pPr>
            <a:r>
              <a:t>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92608"/>
          </a:xfrm>
          <a:prstGeom prst="rect">
            <a:avLst/>
          </a:prstGeom>
          <a:noFill/>
        </p:spPr>
        <p:txBody>
          <a:bodyPr wrap="square" lIns="0" rIns="0" tIns="0" bIns="0">
            <a:spAutoFit/>
          </a:bodyPr>
          <a:lstStyle/>
          <a:p>
            <a:pPr>
              <a:defRPr sz="1050" b="1">
                <a:solidFill>
                  <a:srgbClr val="38BDF8"/>
                </a:solidFill>
                <a:latin typeface="Calibri"/>
              </a:defRPr>
            </a:pPr>
            <a:r>
              <a:t>SYSTEM ARCHITECTURE</a:t>
            </a:r>
          </a:p>
        </p:txBody>
      </p:sp>
      <p:sp>
        <p:nvSpPr>
          <p:cNvPr id="4" name="TextBox 3"/>
          <p:cNvSpPr txBox="1"/>
          <p:nvPr/>
        </p:nvSpPr>
        <p:spPr>
          <a:xfrm>
            <a:off x="731520" y="621792"/>
            <a:ext cx="10728655" cy="502920"/>
          </a:xfrm>
          <a:prstGeom prst="rect">
            <a:avLst/>
          </a:prstGeom>
          <a:noFill/>
        </p:spPr>
        <p:txBody>
          <a:bodyPr wrap="square" lIns="0" rIns="0" tIns="0" bIns="0">
            <a:spAutoFit/>
          </a:bodyPr>
          <a:lstStyle/>
          <a:p>
            <a:pPr>
              <a:defRPr sz="2200" b="1">
                <a:solidFill>
                  <a:srgbClr val="F8FAFC"/>
                </a:solidFill>
                <a:latin typeface="Calibri"/>
              </a:defRPr>
            </a:pPr>
            <a:r>
              <a:t>End-to-End System Architecture with Strict Temporal Isolation</a:t>
            </a:r>
          </a:p>
        </p:txBody>
      </p:sp>
      <p:sp>
        <p:nvSpPr>
          <p:cNvPr id="5" name="Rectangle 4"/>
          <p:cNvSpPr/>
          <p:nvPr/>
        </p:nvSpPr>
        <p:spPr>
          <a:xfrm>
            <a:off x="731520" y="118872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627632" cy="242316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508760"/>
            <a:ext cx="1408176" cy="2148840"/>
          </a:xfrm>
          <a:prstGeom prst="rect">
            <a:avLst/>
          </a:prstGeom>
          <a:noFill/>
        </p:spPr>
        <p:txBody>
          <a:bodyPr wrap="square">
            <a:spAutoFit/>
          </a:bodyPr>
          <a:lstStyle/>
          <a:p>
            <a:pPr>
              <a:defRPr sz="1000" b="1">
                <a:solidFill>
                  <a:srgbClr val="38BDF8"/>
                </a:solidFill>
                <a:latin typeface="Calibri"/>
              </a:defRPr>
            </a:pPr>
            <a:r>
              <a:t>STAGE 1</a:t>
            </a:r>
          </a:p>
          <a:p>
            <a:pPr>
              <a:spcAft>
                <a:spcPts val="600"/>
              </a:spcAft>
              <a:defRPr sz="1200" b="1">
                <a:solidFill>
                  <a:srgbClr val="F8FAFC"/>
                </a:solidFill>
                <a:latin typeface="Calibri"/>
              </a:defRPr>
            </a:pPr>
            <a:r>
              <a:t>AMFI Ingestion</a:t>
            </a:r>
          </a:p>
          <a:p>
            <a:pPr>
              <a:defRPr sz="950">
                <a:solidFill>
                  <a:srgbClr val="CBD5E1"/>
                </a:solidFill>
                <a:latin typeface="Calibri"/>
              </a:defRPr>
            </a:pPr>
            <a:r>
              <a:t>Raw Excel/HTML</a:t>
            </a:r>
            <a:br/>
            <a:r>
              <a:t>Reconciliation check</a:t>
            </a:r>
            <a:br/>
            <a:r>
              <a:t>SQLite finhype.db</a:t>
            </a:r>
          </a:p>
        </p:txBody>
      </p:sp>
      <p:sp>
        <p:nvSpPr>
          <p:cNvPr id="8" name="TextBox 7"/>
          <p:cNvSpPr txBox="1"/>
          <p:nvPr/>
        </p:nvSpPr>
        <p:spPr>
          <a:xfrm>
            <a:off x="2395728" y="2423160"/>
            <a:ext cx="164592" cy="320040"/>
          </a:xfrm>
          <a:prstGeom prst="rect">
            <a:avLst/>
          </a:prstGeom>
          <a:noFill/>
        </p:spPr>
        <p:txBody>
          <a:bodyPr wrap="none" lIns="0" rIns="0" tIns="0" bIns="0">
            <a:spAutoFit/>
          </a:bodyPr>
          <a:lstStyle/>
          <a:p>
            <a:pPr>
              <a:defRPr sz="1400" b="1">
                <a:solidFill>
                  <a:srgbClr val="60A5FA"/>
                </a:solidFill>
                <a:latin typeface="Calibri"/>
              </a:defRPr>
            </a:pPr>
            <a:r>
              <a:t>➔</a:t>
            </a:r>
          </a:p>
        </p:txBody>
      </p:sp>
      <p:sp>
        <p:nvSpPr>
          <p:cNvPr id="9" name="Rounded Rectangle 8"/>
          <p:cNvSpPr/>
          <p:nvPr/>
        </p:nvSpPr>
        <p:spPr>
          <a:xfrm>
            <a:off x="2551176" y="1371600"/>
            <a:ext cx="1627632" cy="24231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60904" y="1508760"/>
            <a:ext cx="1408176" cy="2148840"/>
          </a:xfrm>
          <a:prstGeom prst="rect">
            <a:avLst/>
          </a:prstGeom>
          <a:noFill/>
        </p:spPr>
        <p:txBody>
          <a:bodyPr wrap="square">
            <a:spAutoFit/>
          </a:bodyPr>
          <a:lstStyle/>
          <a:p>
            <a:pPr>
              <a:defRPr sz="1000" b="1">
                <a:solidFill>
                  <a:srgbClr val="60A5FA"/>
                </a:solidFill>
                <a:latin typeface="Calibri"/>
              </a:defRPr>
            </a:pPr>
            <a:r>
              <a:t>STAGE 2</a:t>
            </a:r>
          </a:p>
          <a:p>
            <a:pPr>
              <a:spcAft>
                <a:spcPts val="600"/>
              </a:spcAft>
              <a:defRPr sz="1200" b="1">
                <a:solidFill>
                  <a:srgbClr val="F8FAFC"/>
                </a:solidFill>
                <a:latin typeface="Calibri"/>
              </a:defRPr>
            </a:pPr>
            <a:r>
              <a:t>Feature Pipeline</a:t>
            </a:r>
          </a:p>
          <a:p>
            <a:pPr>
              <a:defRPr sz="950">
                <a:solidFill>
                  <a:srgbClr val="CBD5E1"/>
                </a:solidFill>
                <a:latin typeface="Calibri"/>
              </a:defRPr>
            </a:pPr>
            <a:r>
              <a:t>53 engineered indicators</a:t>
            </a:r>
            <a:br/>
            <a:r>
              <a:t>Shifted lags (t-1, t-12)</a:t>
            </a:r>
            <a:br/>
            <a:r>
              <a:t>Rolling volatilities</a:t>
            </a:r>
          </a:p>
        </p:txBody>
      </p:sp>
      <p:sp>
        <p:nvSpPr>
          <p:cNvPr id="11" name="TextBox 10"/>
          <p:cNvSpPr txBox="1"/>
          <p:nvPr/>
        </p:nvSpPr>
        <p:spPr>
          <a:xfrm>
            <a:off x="4215384" y="2423160"/>
            <a:ext cx="164592" cy="320040"/>
          </a:xfrm>
          <a:prstGeom prst="rect">
            <a:avLst/>
          </a:prstGeom>
          <a:noFill/>
        </p:spPr>
        <p:txBody>
          <a:bodyPr wrap="none" lIns="0" rIns="0" tIns="0" bIns="0">
            <a:spAutoFit/>
          </a:bodyPr>
          <a:lstStyle/>
          <a:p>
            <a:pPr>
              <a:defRPr sz="1400" b="1">
                <a:solidFill>
                  <a:srgbClr val="60A5FA"/>
                </a:solidFill>
                <a:latin typeface="Calibri"/>
              </a:defRPr>
            </a:pPr>
            <a:r>
              <a:t>➔</a:t>
            </a:r>
          </a:p>
        </p:txBody>
      </p:sp>
      <p:sp>
        <p:nvSpPr>
          <p:cNvPr id="12" name="Rounded Rectangle 11"/>
          <p:cNvSpPr/>
          <p:nvPr/>
        </p:nvSpPr>
        <p:spPr>
          <a:xfrm>
            <a:off x="4370832" y="1371600"/>
            <a:ext cx="1627632" cy="242316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508760"/>
            <a:ext cx="1408176" cy="2148840"/>
          </a:xfrm>
          <a:prstGeom prst="rect">
            <a:avLst/>
          </a:prstGeom>
          <a:noFill/>
        </p:spPr>
        <p:txBody>
          <a:bodyPr wrap="square">
            <a:spAutoFit/>
          </a:bodyPr>
          <a:lstStyle/>
          <a:p>
            <a:pPr>
              <a:defRPr sz="1000" b="1">
                <a:solidFill>
                  <a:srgbClr val="60A5FA"/>
                </a:solidFill>
                <a:latin typeface="Calibri"/>
              </a:defRPr>
            </a:pPr>
            <a:r>
              <a:t>STAGE 3</a:t>
            </a:r>
          </a:p>
          <a:p>
            <a:pPr>
              <a:spcAft>
                <a:spcPts val="600"/>
              </a:spcAft>
              <a:defRPr sz="1200" b="1">
                <a:solidFill>
                  <a:srgbClr val="F8FAFC"/>
                </a:solidFill>
                <a:latin typeface="Calibri"/>
              </a:defRPr>
            </a:pPr>
            <a:r>
              <a:t>Forecasting</a:t>
            </a:r>
          </a:p>
          <a:p>
            <a:pPr>
              <a:defRPr sz="950">
                <a:solidFill>
                  <a:srgbClr val="CBD5E1"/>
                </a:solidFill>
                <a:latin typeface="Calibri"/>
              </a:defRPr>
            </a:pPr>
            <a:r>
              <a:t>4 diverse model families</a:t>
            </a:r>
            <a:br/>
            <a:r>
              <a:t>24 rolling origins</a:t>
            </a:r>
            <a:br/>
            <a:r>
              <a:t>576 evaluation rows</a:t>
            </a:r>
          </a:p>
        </p:txBody>
      </p:sp>
      <p:sp>
        <p:nvSpPr>
          <p:cNvPr id="14" name="TextBox 13"/>
          <p:cNvSpPr txBox="1"/>
          <p:nvPr/>
        </p:nvSpPr>
        <p:spPr>
          <a:xfrm>
            <a:off x="6035040" y="2423160"/>
            <a:ext cx="164592" cy="320040"/>
          </a:xfrm>
          <a:prstGeom prst="rect">
            <a:avLst/>
          </a:prstGeom>
          <a:noFill/>
        </p:spPr>
        <p:txBody>
          <a:bodyPr wrap="none" lIns="0" rIns="0" tIns="0" bIns="0">
            <a:spAutoFit/>
          </a:bodyPr>
          <a:lstStyle/>
          <a:p>
            <a:pPr>
              <a:defRPr sz="1400" b="1">
                <a:solidFill>
                  <a:srgbClr val="60A5FA"/>
                </a:solidFill>
                <a:latin typeface="Calibri"/>
              </a:defRPr>
            </a:pPr>
            <a:r>
              <a:t>➔</a:t>
            </a:r>
          </a:p>
        </p:txBody>
      </p:sp>
      <p:sp>
        <p:nvSpPr>
          <p:cNvPr id="15" name="Rounded Rectangle 14"/>
          <p:cNvSpPr/>
          <p:nvPr/>
        </p:nvSpPr>
        <p:spPr>
          <a:xfrm>
            <a:off x="6190488" y="1371600"/>
            <a:ext cx="1627632" cy="24231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0216" y="1508760"/>
            <a:ext cx="1408176" cy="2148840"/>
          </a:xfrm>
          <a:prstGeom prst="rect">
            <a:avLst/>
          </a:prstGeom>
          <a:noFill/>
        </p:spPr>
        <p:txBody>
          <a:bodyPr wrap="square">
            <a:spAutoFit/>
          </a:bodyPr>
          <a:lstStyle/>
          <a:p>
            <a:pPr>
              <a:defRPr sz="1000" b="1">
                <a:solidFill>
                  <a:srgbClr val="FBBF24"/>
                </a:solidFill>
                <a:latin typeface="Calibri"/>
              </a:defRPr>
            </a:pPr>
            <a:r>
              <a:t>STAGE 4</a:t>
            </a:r>
          </a:p>
          <a:p>
            <a:pPr>
              <a:spcAft>
                <a:spcPts val="600"/>
              </a:spcAft>
              <a:defRPr sz="1200" b="1">
                <a:solidFill>
                  <a:srgbClr val="F8FAFC"/>
                </a:solidFill>
                <a:latin typeface="Calibri"/>
              </a:defRPr>
            </a:pPr>
            <a:r>
              <a:t>Error Calibration</a:t>
            </a:r>
          </a:p>
          <a:p>
            <a:pPr>
              <a:defRPr sz="950">
                <a:solidFill>
                  <a:srgbClr val="CBD5E1"/>
                </a:solidFill>
                <a:latin typeface="Calibri"/>
              </a:defRPr>
            </a:pPr>
            <a:r>
              <a:t>Genuine OOS errors</a:t>
            </a:r>
            <a:br/>
            <a:r>
              <a:t>Temporal filter (tau+h&lt;=T)</a:t>
            </a:r>
            <a:br/>
            <a:r>
              <a:t>q10/q90 &amp; q025/q975</a:t>
            </a:r>
          </a:p>
        </p:txBody>
      </p:sp>
      <p:sp>
        <p:nvSpPr>
          <p:cNvPr id="17" name="TextBox 16"/>
          <p:cNvSpPr txBox="1"/>
          <p:nvPr/>
        </p:nvSpPr>
        <p:spPr>
          <a:xfrm>
            <a:off x="7854695" y="2423160"/>
            <a:ext cx="164592" cy="320040"/>
          </a:xfrm>
          <a:prstGeom prst="rect">
            <a:avLst/>
          </a:prstGeom>
          <a:noFill/>
        </p:spPr>
        <p:txBody>
          <a:bodyPr wrap="none" lIns="0" rIns="0" tIns="0" bIns="0">
            <a:spAutoFit/>
          </a:bodyPr>
          <a:lstStyle/>
          <a:p>
            <a:pPr>
              <a:defRPr sz="1400" b="1">
                <a:solidFill>
                  <a:srgbClr val="60A5FA"/>
                </a:solidFill>
                <a:latin typeface="Calibri"/>
              </a:defRPr>
            </a:pPr>
            <a:r>
              <a:t>➔</a:t>
            </a:r>
          </a:p>
        </p:txBody>
      </p:sp>
      <p:sp>
        <p:nvSpPr>
          <p:cNvPr id="18" name="Rounded Rectangle 17"/>
          <p:cNvSpPr/>
          <p:nvPr/>
        </p:nvSpPr>
        <p:spPr>
          <a:xfrm>
            <a:off x="8010144" y="1371600"/>
            <a:ext cx="1627632" cy="24231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19871" y="1508760"/>
            <a:ext cx="1408176" cy="2148840"/>
          </a:xfrm>
          <a:prstGeom prst="rect">
            <a:avLst/>
          </a:prstGeom>
          <a:noFill/>
        </p:spPr>
        <p:txBody>
          <a:bodyPr wrap="square">
            <a:spAutoFit/>
          </a:bodyPr>
          <a:lstStyle/>
          <a:p>
            <a:pPr>
              <a:defRPr sz="1000" b="1">
                <a:solidFill>
                  <a:srgbClr val="34D399"/>
                </a:solidFill>
                <a:latin typeface="Calibri"/>
              </a:defRPr>
            </a:pPr>
            <a:r>
              <a:t>STAGE 5</a:t>
            </a:r>
          </a:p>
          <a:p>
            <a:pPr>
              <a:spcAft>
                <a:spcPts val="600"/>
              </a:spcAft>
              <a:defRPr sz="1200" b="1">
                <a:solidFill>
                  <a:srgbClr val="F8FAFC"/>
                </a:solidFill>
                <a:latin typeface="Calibri"/>
              </a:defRPr>
            </a:pPr>
            <a:r>
              <a:t>Buffer Sizing</a:t>
            </a:r>
          </a:p>
          <a:p>
            <a:pPr>
              <a:defRPr sz="950">
                <a:solidFill>
                  <a:srgbClr val="CBD5E1"/>
                </a:solidFill>
                <a:latin typeface="Calibri"/>
              </a:defRPr>
            </a:pPr>
            <a:r>
              <a:t>Max(Base Floor, Deficit)</a:t>
            </a:r>
            <a:br/>
            <a:r>
              <a:t>Comonotonic stress rule</a:t>
            </a:r>
            <a:br/>
            <a:r>
              <a:t>Single vs. Stitched</a:t>
            </a:r>
          </a:p>
        </p:txBody>
      </p:sp>
      <p:sp>
        <p:nvSpPr>
          <p:cNvPr id="20" name="TextBox 19"/>
          <p:cNvSpPr txBox="1"/>
          <p:nvPr/>
        </p:nvSpPr>
        <p:spPr>
          <a:xfrm>
            <a:off x="9674351" y="2423160"/>
            <a:ext cx="164592" cy="320040"/>
          </a:xfrm>
          <a:prstGeom prst="rect">
            <a:avLst/>
          </a:prstGeom>
          <a:noFill/>
        </p:spPr>
        <p:txBody>
          <a:bodyPr wrap="none" lIns="0" rIns="0" tIns="0" bIns="0">
            <a:spAutoFit/>
          </a:bodyPr>
          <a:lstStyle/>
          <a:p>
            <a:pPr>
              <a:defRPr sz="1400" b="1">
                <a:solidFill>
                  <a:srgbClr val="60A5FA"/>
                </a:solidFill>
                <a:latin typeface="Calibri"/>
              </a:defRPr>
            </a:pPr>
            <a:r>
              <a:t>➔</a:t>
            </a:r>
          </a:p>
        </p:txBody>
      </p:sp>
      <p:sp>
        <p:nvSpPr>
          <p:cNvPr id="21" name="Rounded Rectangle 20"/>
          <p:cNvSpPr/>
          <p:nvPr/>
        </p:nvSpPr>
        <p:spPr>
          <a:xfrm>
            <a:off x="9829800" y="1371600"/>
            <a:ext cx="1627632" cy="2423160"/>
          </a:xfrm>
          <a:prstGeom prst="roundRect">
            <a:avLst/>
          </a:prstGeom>
          <a:solidFill>
            <a:srgbClr val="1E293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39528" y="1508760"/>
            <a:ext cx="1408176" cy="2148840"/>
          </a:xfrm>
          <a:prstGeom prst="rect">
            <a:avLst/>
          </a:prstGeom>
          <a:noFill/>
        </p:spPr>
        <p:txBody>
          <a:bodyPr wrap="square">
            <a:spAutoFit/>
          </a:bodyPr>
          <a:lstStyle/>
          <a:p>
            <a:pPr>
              <a:defRPr sz="1000" b="1">
                <a:solidFill>
                  <a:srgbClr val="38BDF8"/>
                </a:solidFill>
                <a:latin typeface="Calibri"/>
              </a:defRPr>
            </a:pPr>
            <a:r>
              <a:t>STAGE 6</a:t>
            </a:r>
          </a:p>
          <a:p>
            <a:pPr>
              <a:spcAft>
                <a:spcPts val="600"/>
              </a:spcAft>
              <a:defRPr sz="1200" b="1">
                <a:solidFill>
                  <a:srgbClr val="F8FAFC"/>
                </a:solidFill>
                <a:latin typeface="Calibri"/>
              </a:defRPr>
            </a:pPr>
            <a:r>
              <a:t>Streamlit UI</a:t>
            </a:r>
          </a:p>
          <a:p>
            <a:pPr>
              <a:defRPr sz="950">
                <a:solidFill>
                  <a:srgbClr val="CBD5E1"/>
                </a:solidFill>
                <a:latin typeface="Calibri"/>
              </a:defRPr>
            </a:pPr>
            <a:r>
              <a:t>6 interactive tabs</a:t>
            </a:r>
            <a:br/>
            <a:r>
              <a:t>Active policy selector</a:t>
            </a:r>
            <a:br/>
            <a:r>
              <a:t>Responsive sub-tabs</a:t>
            </a:r>
          </a:p>
        </p:txBody>
      </p:sp>
      <p:sp>
        <p:nvSpPr>
          <p:cNvPr id="23" name="Rounded Rectangle 22"/>
          <p:cNvSpPr/>
          <p:nvPr/>
        </p:nvSpPr>
        <p:spPr>
          <a:xfrm>
            <a:off x="731520" y="3977639"/>
            <a:ext cx="5212080" cy="210312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114800"/>
            <a:ext cx="4846320" cy="1828800"/>
          </a:xfrm>
          <a:prstGeom prst="rect">
            <a:avLst/>
          </a:prstGeom>
          <a:noFill/>
        </p:spPr>
        <p:txBody>
          <a:bodyPr wrap="square">
            <a:spAutoFit/>
          </a:bodyPr>
          <a:lstStyle/>
          <a:p>
            <a:pPr>
              <a:spcAft>
                <a:spcPts val="600"/>
              </a:spcAft>
              <a:defRPr sz="1300" b="1">
                <a:solidFill>
                  <a:srgbClr val="38BDF8"/>
                </a:solidFill>
                <a:latin typeface="Calibri"/>
              </a:defRPr>
            </a:pPr>
            <a:r>
              <a:t>Mathematical Temporal Isolation</a:t>
            </a:r>
          </a:p>
          <a:p>
            <a:pPr>
              <a:spcAft>
                <a:spcPts val="600"/>
              </a:spcAft>
            </a:pPr>
            <a:r>
              <a:rPr b="1" sz="1200">
                <a:solidFill>
                  <a:srgbClr val="F8FAFC"/>
                </a:solidFill>
                <a:latin typeface="Calibri"/>
              </a:rPr>
              <a:t>Shifted Operators: </a:t>
            </a:r>
            <a:r>
              <a:rPr sz="1100">
                <a:solidFill>
                  <a:srgbClr val="CBD5E1"/>
                </a:solidFill>
                <a:latin typeface="Calibri"/>
              </a:rPr>
              <a:t>All autoregressive lags (_lag_1, _lag_12) and rolling statistics (3M/6M volatilities) operate exclusively on shifted vectors (.shift(1)). Actual observation Y_t never contaminates features at time t.</a:t>
            </a:r>
          </a:p>
          <a:p>
            <a:pPr>
              <a:spcAft>
                <a:spcPts val="400"/>
              </a:spcAft>
            </a:pPr>
            <a:r>
              <a:rPr b="1" sz="1200">
                <a:solidFill>
                  <a:srgbClr val="F8FAFC"/>
                </a:solidFill>
                <a:latin typeface="Calibri"/>
              </a:rPr>
              <a:t>Frozen Transformers: </a:t>
            </a:r>
            <a:r>
              <a:rPr sz="1100">
                <a:solidFill>
                  <a:srgbClr val="CBD5E1"/>
                </a:solidFill>
                <a:latin typeface="Calibri"/>
              </a:rPr>
              <a:t>In Ridge Direct regression, StandardScaler is fit exclusively on training slices (t &lt;= T). Scalers are frozen before test-origin prediction.</a:t>
            </a:r>
          </a:p>
        </p:txBody>
      </p:sp>
      <p:sp>
        <p:nvSpPr>
          <p:cNvPr id="25" name="Rounded Rectangle 24"/>
          <p:cNvSpPr/>
          <p:nvPr/>
        </p:nvSpPr>
        <p:spPr>
          <a:xfrm>
            <a:off x="6248095" y="3977639"/>
            <a:ext cx="5212080" cy="210312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0975" y="4114800"/>
            <a:ext cx="4846320" cy="1828800"/>
          </a:xfrm>
          <a:prstGeom prst="rect">
            <a:avLst/>
          </a:prstGeom>
          <a:noFill/>
        </p:spPr>
        <p:txBody>
          <a:bodyPr wrap="square">
            <a:spAutoFit/>
          </a:bodyPr>
          <a:lstStyle/>
          <a:p>
            <a:pPr>
              <a:spcAft>
                <a:spcPts val="600"/>
              </a:spcAft>
              <a:defRPr sz="1300" b="1">
                <a:solidFill>
                  <a:srgbClr val="34D399"/>
                </a:solidFill>
                <a:latin typeface="Calibri"/>
              </a:defRPr>
            </a:pPr>
            <a:r>
              <a:t>Automated Future-Mutation Invariance Test</a:t>
            </a:r>
          </a:p>
          <a:p>
            <a:pPr>
              <a:spcAft>
                <a:spcPts val="600"/>
              </a:spcAft>
            </a:pPr>
            <a:r>
              <a:rPr b="1" sz="1200">
                <a:solidFill>
                  <a:srgbClr val="F8FAFC"/>
                </a:solidFill>
                <a:latin typeface="Calibri"/>
              </a:rPr>
              <a:t>End-to-End Production Test: </a:t>
            </a:r>
            <a:r>
              <a:rPr sz="1100">
                <a:solidFill>
                  <a:srgbClr val="CBD5E1"/>
                </a:solidFill>
                <a:latin typeface="Calibri"/>
              </a:rPr>
              <a:t>Production test (tests/test_audit_phase2.py) injects extreme shocks into data after origin T and executes the complete feature, modeling, and interval pipeline.</a:t>
            </a:r>
          </a:p>
          <a:p>
            <a:pPr>
              <a:spcAft>
                <a:spcPts val="400"/>
              </a:spcAft>
            </a:pPr>
            <a:r>
              <a:rPr b="1" sz="1200">
                <a:solidFill>
                  <a:srgbClr val="F8FAFC"/>
                </a:solidFill>
                <a:latin typeface="Calibri"/>
              </a:rPr>
              <a:t>Numerical Parity Verified: </a:t>
            </a:r>
            <a:r>
              <a:rPr sz="1100">
                <a:solidFill>
                  <a:srgbClr val="CBD5E1"/>
                </a:solidFill>
                <a:latin typeface="Calibri"/>
              </a:rPr>
              <a:t>Historical point forecasts and prediction intervals match within numerical solver tolerance (+/- 1e-5 Cr), verified across 154 passing automated tests.</a:t>
            </a:r>
          </a:p>
        </p:txBody>
      </p:sp>
      <p:sp>
        <p:nvSpPr>
          <p:cNvPr id="27" name="Rectangle 26"/>
          <p:cNvSpPr/>
          <p:nvPr/>
        </p:nvSpPr>
        <p:spPr>
          <a:xfrm>
            <a:off x="731520" y="626364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6327648"/>
            <a:ext cx="5303520" cy="320040"/>
          </a:xfrm>
          <a:prstGeom prst="rect">
            <a:avLst/>
          </a:prstGeom>
          <a:noFill/>
        </p:spPr>
        <p:txBody>
          <a:bodyPr wrap="none" lIns="0" rIns="0" tIns="0" bIns="0">
            <a:spAutoFit/>
          </a:bodyPr>
          <a:lstStyle/>
          <a:p>
            <a:pPr>
              <a:defRPr sz="900">
                <a:solidFill>
                  <a:srgbClr val="94A3B8"/>
                </a:solidFill>
                <a:latin typeface="Calibri"/>
              </a:defRPr>
            </a:pPr>
            <a:r>
              <a:t>FINHYPE | Zeckathon 2026 · Problem Statement 3 | Origin: Sep 2026 · Target: Oct–Dec 2026</a:t>
            </a:r>
          </a:p>
        </p:txBody>
      </p:sp>
      <p:sp>
        <p:nvSpPr>
          <p:cNvPr id="29" name="TextBox 28"/>
          <p:cNvSpPr txBox="1"/>
          <p:nvPr/>
        </p:nvSpPr>
        <p:spPr>
          <a:xfrm>
            <a:off x="6035040" y="6327648"/>
            <a:ext cx="4846320" cy="320040"/>
          </a:xfrm>
          <a:prstGeom prst="rect">
            <a:avLst/>
          </a:prstGeom>
          <a:noFill/>
        </p:spPr>
        <p:txBody>
          <a:bodyPr wrap="none" lIns="0" rIns="0" tIns="0" bIns="0">
            <a:spAutoFit/>
          </a:bodyPr>
          <a:lstStyle/>
          <a:p>
            <a:pPr algn="r">
              <a:defRPr sz="850" i="1">
                <a:solidFill>
                  <a:srgbClr val="94A3B8"/>
                </a:solidFill>
                <a:latin typeface="Calibri"/>
              </a:defRPr>
            </a:pPr>
            <a:r>
              <a:t>Source: ARCHITECTURE.md; tests/test_audit_phase2.py; 154 passing unit &amp; integration tests</a:t>
            </a:r>
          </a:p>
        </p:txBody>
      </p:sp>
      <p:sp>
        <p:nvSpPr>
          <p:cNvPr id="30" name="TextBox 29"/>
          <p:cNvSpPr txBox="1"/>
          <p:nvPr/>
        </p:nvSpPr>
        <p:spPr>
          <a:xfrm>
            <a:off x="10972800" y="6327648"/>
            <a:ext cx="487375" cy="320040"/>
          </a:xfrm>
          <a:prstGeom prst="rect">
            <a:avLst/>
          </a:prstGeom>
          <a:noFill/>
        </p:spPr>
        <p:txBody>
          <a:bodyPr wrap="none" lIns="0" rIns="0" tIns="0" bIns="0">
            <a:spAutoFit/>
          </a:bodyPr>
          <a:lstStyle/>
          <a:p>
            <a:pPr algn="r">
              <a:defRPr sz="950" b="1">
                <a:solidFill>
                  <a:srgbClr val="60A5FA"/>
                </a:solidFill>
                <a:latin typeface="Calibri"/>
              </a:defRPr>
            </a:pPr>
            <a:r>
              <a:t>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92608"/>
          </a:xfrm>
          <a:prstGeom prst="rect">
            <a:avLst/>
          </a:prstGeom>
          <a:noFill/>
        </p:spPr>
        <p:txBody>
          <a:bodyPr wrap="square" lIns="0" rIns="0" tIns="0" bIns="0">
            <a:spAutoFit/>
          </a:bodyPr>
          <a:lstStyle/>
          <a:p>
            <a:pPr>
              <a:defRPr sz="1050" b="1">
                <a:solidFill>
                  <a:srgbClr val="38BDF8"/>
                </a:solidFill>
                <a:latin typeface="Calibri"/>
              </a:defRPr>
            </a:pPr>
            <a:r>
              <a:t>FORECASTING METHODOLOGY</a:t>
            </a:r>
          </a:p>
        </p:txBody>
      </p:sp>
      <p:sp>
        <p:nvSpPr>
          <p:cNvPr id="4" name="TextBox 3"/>
          <p:cNvSpPr txBox="1"/>
          <p:nvPr/>
        </p:nvSpPr>
        <p:spPr>
          <a:xfrm>
            <a:off x="731520" y="621792"/>
            <a:ext cx="10728655" cy="502920"/>
          </a:xfrm>
          <a:prstGeom prst="rect">
            <a:avLst/>
          </a:prstGeom>
          <a:noFill/>
        </p:spPr>
        <p:txBody>
          <a:bodyPr wrap="square" lIns="0" rIns="0" tIns="0" bIns="0">
            <a:spAutoFit/>
          </a:bodyPr>
          <a:lstStyle/>
          <a:p>
            <a:pPr>
              <a:defRPr sz="2200" b="1">
                <a:solidFill>
                  <a:srgbClr val="F8FAFC"/>
                </a:solidFill>
                <a:latin typeface="Calibri"/>
              </a:defRPr>
            </a:pPr>
            <a:r>
              <a:t>Forecasting Suite &amp; Genuine Out-of-Sample Error Calibration</a:t>
            </a:r>
          </a:p>
        </p:txBody>
      </p:sp>
      <p:sp>
        <p:nvSpPr>
          <p:cNvPr id="5" name="Rectangle 4"/>
          <p:cNvSpPr/>
          <p:nvPr/>
        </p:nvSpPr>
        <p:spPr>
          <a:xfrm>
            <a:off x="731520" y="118872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2514600" cy="2514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536192"/>
            <a:ext cx="2185416" cy="2240280"/>
          </a:xfrm>
          <a:prstGeom prst="rect">
            <a:avLst/>
          </a:prstGeom>
          <a:noFill/>
        </p:spPr>
        <p:txBody>
          <a:bodyPr wrap="square">
            <a:spAutoFit/>
          </a:bodyPr>
          <a:lstStyle/>
          <a:p>
            <a:pPr>
              <a:defRPr sz="1300" b="1">
                <a:solidFill>
                  <a:srgbClr val="38BDF8"/>
                </a:solidFill>
                <a:latin typeface="Calibri"/>
              </a:defRPr>
            </a:pPr>
            <a:r>
              <a:t>Seasonal-Naive</a:t>
            </a:r>
          </a:p>
          <a:p>
            <a:pPr>
              <a:spcAft>
                <a:spcPts val="800"/>
              </a:spcAft>
              <a:defRPr sz="900" b="1">
                <a:solidFill>
                  <a:srgbClr val="94A3B8"/>
                </a:solidFill>
                <a:latin typeface="Calibri"/>
              </a:defRPr>
            </a:pPr>
            <a:r>
              <a:t>CYCLICAL BENCHMARK</a:t>
            </a:r>
          </a:p>
          <a:p>
            <a:pPr>
              <a:defRPr sz="1050">
                <a:solidFill>
                  <a:srgbClr val="CBD5E1"/>
                </a:solidFill>
                <a:latin typeface="Calibri"/>
              </a:defRPr>
            </a:pPr>
            <a:r>
              <a:t>Annual 12-month cyclical persistence: Y_hat(T+h) = Y(T+h-12). Captures recurring institutional advance-tax cycles without parameter estimation risk.</a:t>
            </a:r>
          </a:p>
        </p:txBody>
      </p:sp>
      <p:sp>
        <p:nvSpPr>
          <p:cNvPr id="8" name="Rounded Rectangle 7"/>
          <p:cNvSpPr/>
          <p:nvPr/>
        </p:nvSpPr>
        <p:spPr>
          <a:xfrm>
            <a:off x="3469233" y="1371600"/>
            <a:ext cx="2514600" cy="2514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3825" y="1536192"/>
            <a:ext cx="2185416" cy="2240280"/>
          </a:xfrm>
          <a:prstGeom prst="rect">
            <a:avLst/>
          </a:prstGeom>
          <a:noFill/>
        </p:spPr>
        <p:txBody>
          <a:bodyPr wrap="square">
            <a:spAutoFit/>
          </a:bodyPr>
          <a:lstStyle/>
          <a:p>
            <a:pPr>
              <a:defRPr sz="1300" b="1">
                <a:solidFill>
                  <a:srgbClr val="60A5FA"/>
                </a:solidFill>
                <a:latin typeface="Calibri"/>
              </a:defRPr>
            </a:pPr>
            <a:r>
              <a:t>ETS State-Space</a:t>
            </a:r>
          </a:p>
          <a:p>
            <a:pPr>
              <a:spcAft>
                <a:spcPts val="800"/>
              </a:spcAft>
              <a:defRPr sz="900" b="1">
                <a:solidFill>
                  <a:srgbClr val="94A3B8"/>
                </a:solidFill>
                <a:latin typeface="Calibri"/>
              </a:defRPr>
            </a:pPr>
            <a:r>
              <a:t>ADAPTIVE SMOOTHING</a:t>
            </a:r>
          </a:p>
          <a:p>
            <a:pPr>
              <a:defRPr sz="1050">
                <a:solidFill>
                  <a:srgbClr val="CBD5E1"/>
                </a:solidFill>
                <a:latin typeface="Calibri"/>
              </a:defRPr>
            </a:pPr>
            <a:r>
              <a:t>Exponential Smoothing with additive errors, damped trend, and seasonal components. Adapts dynamically to gradual structural shifts in fund asset base.</a:t>
            </a:r>
          </a:p>
        </p:txBody>
      </p:sp>
      <p:sp>
        <p:nvSpPr>
          <p:cNvPr id="10" name="Rounded Rectangle 9"/>
          <p:cNvSpPr/>
          <p:nvPr/>
        </p:nvSpPr>
        <p:spPr>
          <a:xfrm>
            <a:off x="6206947" y="1371600"/>
            <a:ext cx="2514600" cy="2514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1539" y="1536192"/>
            <a:ext cx="2185416" cy="2240280"/>
          </a:xfrm>
          <a:prstGeom prst="rect">
            <a:avLst/>
          </a:prstGeom>
          <a:noFill/>
        </p:spPr>
        <p:txBody>
          <a:bodyPr wrap="square">
            <a:spAutoFit/>
          </a:bodyPr>
          <a:lstStyle/>
          <a:p>
            <a:pPr>
              <a:defRPr sz="1300" b="1">
                <a:solidFill>
                  <a:srgbClr val="34D399"/>
                </a:solidFill>
                <a:latin typeface="Calibri"/>
              </a:defRPr>
            </a:pPr>
            <a:r>
              <a:t>SARIMAX</a:t>
            </a:r>
          </a:p>
          <a:p>
            <a:pPr>
              <a:spcAft>
                <a:spcPts val="800"/>
              </a:spcAft>
              <a:defRPr sz="900" b="1">
                <a:solidFill>
                  <a:srgbClr val="94A3B8"/>
                </a:solidFill>
                <a:latin typeface="Calibri"/>
              </a:defRPr>
            </a:pPr>
            <a:r>
              <a:t>EXOGENOUS REGRESSORS</a:t>
            </a:r>
          </a:p>
          <a:p>
            <a:pPr>
              <a:defRPr sz="1050">
                <a:solidFill>
                  <a:srgbClr val="CBD5E1"/>
                </a:solidFill>
                <a:latin typeface="Calibri"/>
              </a:defRPr>
            </a:pPr>
            <a:r>
              <a:t>(p,d,q) x (P,D,Q)_12 Seasonal ARIMA incorporating forward deterministic calendar regressors (advance-tax months, quarter-ends, days in month).</a:t>
            </a:r>
          </a:p>
        </p:txBody>
      </p:sp>
      <p:sp>
        <p:nvSpPr>
          <p:cNvPr id="12" name="Rounded Rectangle 11"/>
          <p:cNvSpPr/>
          <p:nvPr/>
        </p:nvSpPr>
        <p:spPr>
          <a:xfrm>
            <a:off x="8944660" y="1371600"/>
            <a:ext cx="2514600" cy="25146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9252" y="1536192"/>
            <a:ext cx="2185416" cy="2240280"/>
          </a:xfrm>
          <a:prstGeom prst="rect">
            <a:avLst/>
          </a:prstGeom>
          <a:noFill/>
        </p:spPr>
        <p:txBody>
          <a:bodyPr wrap="square">
            <a:spAutoFit/>
          </a:bodyPr>
          <a:lstStyle/>
          <a:p>
            <a:pPr>
              <a:defRPr sz="1300" b="1">
                <a:solidFill>
                  <a:srgbClr val="FBBF24"/>
                </a:solidFill>
                <a:latin typeface="Calibri"/>
              </a:defRPr>
            </a:pPr>
            <a:r>
              <a:t>Ridge Direct</a:t>
            </a:r>
          </a:p>
          <a:p>
            <a:pPr>
              <a:spcAft>
                <a:spcPts val="800"/>
              </a:spcAft>
              <a:defRPr sz="900" b="1">
                <a:solidFill>
                  <a:srgbClr val="94A3B8"/>
                </a:solidFill>
                <a:latin typeface="Calibri"/>
              </a:defRPr>
            </a:pPr>
            <a:r>
              <a:t>REGULARIZED ML</a:t>
            </a:r>
          </a:p>
          <a:p>
            <a:pPr>
              <a:defRPr sz="1050">
                <a:solidFill>
                  <a:srgbClr val="CBD5E1"/>
                </a:solidFill>
                <a:latin typeface="Calibri"/>
              </a:defRPr>
            </a:pPr>
            <a:r>
              <a:t>L2-regularized linear models with separate direct heads for h in {1, 2, 3}. Internal feature standardization strictly fit on historical training slices.</a:t>
            </a:r>
          </a:p>
        </p:txBody>
      </p:sp>
      <p:sp>
        <p:nvSpPr>
          <p:cNvPr id="14" name="Rounded Rectangle 13"/>
          <p:cNvSpPr/>
          <p:nvPr/>
        </p:nvSpPr>
        <p:spPr>
          <a:xfrm>
            <a:off x="731520" y="4069080"/>
            <a:ext cx="10728655" cy="20116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206240"/>
            <a:ext cx="10271455" cy="1737360"/>
          </a:xfrm>
          <a:prstGeom prst="rect">
            <a:avLst/>
          </a:prstGeom>
          <a:noFill/>
        </p:spPr>
        <p:txBody>
          <a:bodyPr wrap="square">
            <a:spAutoFit/>
          </a:bodyPr>
          <a:lstStyle/>
          <a:p>
            <a:pPr>
              <a:spcAft>
                <a:spcPts val="800"/>
              </a:spcAft>
              <a:defRPr sz="1400" b="1">
                <a:solidFill>
                  <a:srgbClr val="F8FAFC"/>
                </a:solidFill>
                <a:latin typeface="Calibri"/>
              </a:defRPr>
            </a:pPr>
            <a:r>
              <a:t>24-Origin Expanding Rolling Backtest &amp; Out-of-Sample Calibration Engine</a:t>
            </a:r>
          </a:p>
          <a:p>
            <a:pPr>
              <a:spcAft>
                <a:spcPts val="800"/>
              </a:spcAft>
            </a:pPr>
            <a:r>
              <a:rPr b="1" sz="1200">
                <a:solidFill>
                  <a:srgbClr val="F8FAFC"/>
                </a:solidFill>
                <a:latin typeface="Calibri"/>
              </a:rPr>
              <a:t>Rolling Backtest Window (July 2024 – June 2026): </a:t>
            </a:r>
            <a:r>
              <a:rPr sz="1100">
                <a:solidFill>
                  <a:srgbClr val="CBD5E1"/>
                </a:solidFill>
                <a:latin typeface="Calibri"/>
              </a:rPr>
              <a:t>24 consecutive monthly origins generating 576 evaluation records (24 origins x 2 categories x 4 models x 3 horizons). Re-fits all models dynamically at each origin T.</a:t>
            </a:r>
          </a:p>
          <a:p>
            <a:pPr>
              <a:spcAft>
                <a:spcPts val="800"/>
              </a:spcAft>
            </a:pPr>
            <a:r>
              <a:rPr b="1" sz="1200">
                <a:solidFill>
                  <a:srgbClr val="F8FAFC"/>
                </a:solidFill>
                <a:latin typeface="Calibri"/>
              </a:rPr>
              <a:t>In-Sample Residuals Strictly Prohibited: </a:t>
            </a:r>
            <a:r>
              <a:rPr sz="1100">
                <a:solidFill>
                  <a:srgbClr val="CBD5E1"/>
                </a:solidFill>
                <a:latin typeface="Calibri"/>
              </a:rPr>
              <a:t>Prediction intervals do not use artificial training residuals. Residual error e_(tau,h) = Y_(tau+h) - Y_hat_(tau+h) is admitted to calibration pool if and only if tau + h &lt;= T.</a:t>
            </a:r>
          </a:p>
          <a:p>
            <a:pPr>
              <a:spcAft>
                <a:spcPts val="400"/>
              </a:spcAft>
            </a:pPr>
            <a:r>
              <a:rPr b="1" sz="1200">
                <a:solidFill>
                  <a:srgbClr val="F8FAFC"/>
                </a:solidFill>
                <a:latin typeface="Calibri"/>
              </a:rPr>
              <a:t>Calibrated Interval Bounds: </a:t>
            </a:r>
            <a:r>
              <a:rPr sz="1100">
                <a:solidFill>
                  <a:srgbClr val="38BDF8"/>
                </a:solidFill>
                <a:latin typeface="Calibri"/>
              </a:rPr>
              <a:t>Two-sided 80% (q10 to q90) and 95% (q025 to q975) intervals. Strict assertions enforce monotonicity (l95 &lt;= l80 &lt;= u80 &lt;= u95) and verify point forecast inclusion.</a:t>
            </a:r>
          </a:p>
        </p:txBody>
      </p:sp>
      <p:sp>
        <p:nvSpPr>
          <p:cNvPr id="16" name="Rectangle 15"/>
          <p:cNvSpPr/>
          <p:nvPr/>
        </p:nvSpPr>
        <p:spPr>
          <a:xfrm>
            <a:off x="731520" y="626364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6327648"/>
            <a:ext cx="5303520" cy="320040"/>
          </a:xfrm>
          <a:prstGeom prst="rect">
            <a:avLst/>
          </a:prstGeom>
          <a:noFill/>
        </p:spPr>
        <p:txBody>
          <a:bodyPr wrap="none" lIns="0" rIns="0" tIns="0" bIns="0">
            <a:spAutoFit/>
          </a:bodyPr>
          <a:lstStyle/>
          <a:p>
            <a:pPr>
              <a:defRPr sz="900">
                <a:solidFill>
                  <a:srgbClr val="94A3B8"/>
                </a:solidFill>
                <a:latin typeface="Calibri"/>
              </a:defRPr>
            </a:pPr>
            <a:r>
              <a:t>FINHYPE | Zeckathon 2026 · Problem Statement 3 | Origin: Sep 2026 · Target: Oct–Dec 2026</a:t>
            </a:r>
          </a:p>
        </p:txBody>
      </p:sp>
      <p:sp>
        <p:nvSpPr>
          <p:cNvPr id="18" name="TextBox 17"/>
          <p:cNvSpPr txBox="1"/>
          <p:nvPr/>
        </p:nvSpPr>
        <p:spPr>
          <a:xfrm>
            <a:off x="6035040" y="6327648"/>
            <a:ext cx="4846320" cy="320040"/>
          </a:xfrm>
          <a:prstGeom prst="rect">
            <a:avLst/>
          </a:prstGeom>
          <a:noFill/>
        </p:spPr>
        <p:txBody>
          <a:bodyPr wrap="none" lIns="0" rIns="0" tIns="0" bIns="0">
            <a:spAutoFit/>
          </a:bodyPr>
          <a:lstStyle/>
          <a:p>
            <a:pPr algn="r">
              <a:defRPr sz="850" i="1">
                <a:solidFill>
                  <a:srgbClr val="94A3B8"/>
                </a:solidFill>
                <a:latin typeface="Calibri"/>
              </a:defRPr>
            </a:pPr>
            <a:r>
              <a:t>Source: app/forecasting/backtest.py, app/forecasting/intervals.py; data/processed/backtest_results.csv</a:t>
            </a:r>
          </a:p>
        </p:txBody>
      </p:sp>
      <p:sp>
        <p:nvSpPr>
          <p:cNvPr id="19" name="TextBox 18"/>
          <p:cNvSpPr txBox="1"/>
          <p:nvPr/>
        </p:nvSpPr>
        <p:spPr>
          <a:xfrm>
            <a:off x="10972800" y="6327648"/>
            <a:ext cx="487375" cy="320040"/>
          </a:xfrm>
          <a:prstGeom prst="rect">
            <a:avLst/>
          </a:prstGeom>
          <a:noFill/>
        </p:spPr>
        <p:txBody>
          <a:bodyPr wrap="none" lIns="0" rIns="0" tIns="0" bIns="0">
            <a:spAutoFit/>
          </a:bodyPr>
          <a:lstStyle/>
          <a:p>
            <a:pPr algn="r">
              <a:defRPr sz="950" b="1">
                <a:solidFill>
                  <a:srgbClr val="60A5FA"/>
                </a:solidFill>
                <a:latin typeface="Calibri"/>
              </a:defRPr>
            </a:pPr>
            <a:r>
              <a:t>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92608"/>
          </a:xfrm>
          <a:prstGeom prst="rect">
            <a:avLst/>
          </a:prstGeom>
          <a:noFill/>
        </p:spPr>
        <p:txBody>
          <a:bodyPr wrap="square" lIns="0" rIns="0" tIns="0" bIns="0">
            <a:spAutoFit/>
          </a:bodyPr>
          <a:lstStyle/>
          <a:p>
            <a:pPr>
              <a:defRPr sz="1050" b="1">
                <a:solidFill>
                  <a:srgbClr val="38BDF8"/>
                </a:solidFill>
                <a:latin typeface="Calibri"/>
              </a:defRPr>
            </a:pPr>
            <a:r>
              <a:t>EMPIRICAL RESULTS · SELECTED BENCHMARK SUMMARY</a:t>
            </a:r>
          </a:p>
        </p:txBody>
      </p:sp>
      <p:sp>
        <p:nvSpPr>
          <p:cNvPr id="4" name="TextBox 3"/>
          <p:cNvSpPr txBox="1"/>
          <p:nvPr/>
        </p:nvSpPr>
        <p:spPr>
          <a:xfrm>
            <a:off x="731520" y="621792"/>
            <a:ext cx="10728655" cy="502920"/>
          </a:xfrm>
          <a:prstGeom prst="rect">
            <a:avLst/>
          </a:prstGeom>
          <a:noFill/>
        </p:spPr>
        <p:txBody>
          <a:bodyPr wrap="square" lIns="0" rIns="0" tIns="0" bIns="0">
            <a:spAutoFit/>
          </a:bodyPr>
          <a:lstStyle/>
          <a:p>
            <a:pPr>
              <a:defRPr sz="2200" b="1">
                <a:solidFill>
                  <a:srgbClr val="F8FAFC"/>
                </a:solidFill>
                <a:latin typeface="Calibri"/>
              </a:defRPr>
            </a:pPr>
            <a:r>
              <a:t>Audited Backtest Benchmarks &amp; 3-Month Forward Forecasts</a:t>
            </a:r>
          </a:p>
        </p:txBody>
      </p:sp>
      <p:sp>
        <p:nvSpPr>
          <p:cNvPr id="5" name="Rectangle 4"/>
          <p:cNvSpPr/>
          <p:nvPr/>
        </p:nvSpPr>
        <p:spPr>
          <a:xfrm>
            <a:off x="731520" y="118872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298448"/>
          <a:ext cx="10728655" cy="2240280"/>
        </p:xfrm>
        <a:graphic>
          <a:graphicData uri="http://schemas.openxmlformats.org/drawingml/2006/table">
            <a:tbl>
              <a:tblPr firstRow="1" bandRow="1">
                <a:tableStyleId>{5C22544A-7EE6-4342-B048-85BDC9FD1C3A}</a:tableStyleId>
              </a:tblPr>
              <a:tblGrid>
                <a:gridCol w="1463040"/>
                <a:gridCol w="914400"/>
                <a:gridCol w="1371600"/>
                <a:gridCol w="1371600"/>
                <a:gridCol w="914400"/>
                <a:gridCol w="914400"/>
                <a:gridCol w="1280160"/>
                <a:gridCol w="2499055"/>
              </a:tblGrid>
              <a:tr h="228600">
                <a:tc>
                  <a:txBody>
                    <a:bodyPr/>
                    <a:lstStyle/>
                    <a:p>
                      <a:pPr algn="ctr">
                        <a:defRPr sz="950" b="1">
                          <a:solidFill>
                            <a:srgbClr val="38BDF8"/>
                          </a:solidFill>
                          <a:latin typeface="Calibri"/>
                        </a:defRPr>
                      </a:pPr>
                      <a:r>
                        <a:t>Model</a:t>
                      </a:r>
                    </a:p>
                  </a:txBody>
                  <a:tcPr marT="18288" marB="18288" marL="36576" marR="36576">
                    <a:solidFill>
                      <a:srgbClr val="28354C"/>
                    </a:solidFill>
                  </a:tcPr>
                </a:tc>
                <a:tc>
                  <a:txBody>
                    <a:bodyPr/>
                    <a:lstStyle/>
                    <a:p>
                      <a:pPr algn="ctr">
                        <a:defRPr sz="950" b="1">
                          <a:solidFill>
                            <a:srgbClr val="38BDF8"/>
                          </a:solidFill>
                          <a:latin typeface="Calibri"/>
                        </a:defRPr>
                      </a:pPr>
                      <a:r>
                        <a:t>Horizon</a:t>
                      </a:r>
                    </a:p>
                  </a:txBody>
                  <a:tcPr marT="18288" marB="18288" marL="36576" marR="36576">
                    <a:solidFill>
                      <a:srgbClr val="28354C"/>
                    </a:solidFill>
                  </a:tcPr>
                </a:tc>
                <a:tc>
                  <a:txBody>
                    <a:bodyPr/>
                    <a:lstStyle/>
                    <a:p>
                      <a:pPr algn="ctr">
                        <a:defRPr sz="950" b="1">
                          <a:solidFill>
                            <a:srgbClr val="38BDF8"/>
                          </a:solidFill>
                          <a:latin typeface="Calibri"/>
                        </a:defRPr>
                      </a:pPr>
                      <a:r>
                        <a:t>MAE (₹ Cr)</a:t>
                      </a:r>
                    </a:p>
                  </a:txBody>
                  <a:tcPr marT="18288" marB="18288" marL="36576" marR="36576">
                    <a:solidFill>
                      <a:srgbClr val="28354C"/>
                    </a:solidFill>
                  </a:tcPr>
                </a:tc>
                <a:tc>
                  <a:txBody>
                    <a:bodyPr/>
                    <a:lstStyle/>
                    <a:p>
                      <a:pPr algn="ctr">
                        <a:defRPr sz="950" b="1">
                          <a:solidFill>
                            <a:srgbClr val="38BDF8"/>
                          </a:solidFill>
                          <a:latin typeface="Calibri"/>
                        </a:defRPr>
                      </a:pPr>
                      <a:r>
                        <a:t>RMSE (₹ Cr)</a:t>
                      </a:r>
                    </a:p>
                  </a:txBody>
                  <a:tcPr marT="18288" marB="18288" marL="36576" marR="36576">
                    <a:solidFill>
                      <a:srgbClr val="28354C"/>
                    </a:solidFill>
                  </a:tcPr>
                </a:tc>
                <a:tc>
                  <a:txBody>
                    <a:bodyPr/>
                    <a:lstStyle/>
                    <a:p>
                      <a:pPr algn="ctr">
                        <a:defRPr sz="950" b="1">
                          <a:solidFill>
                            <a:srgbClr val="38BDF8"/>
                          </a:solidFill>
                          <a:latin typeface="Calibri"/>
                        </a:defRPr>
                      </a:pPr>
                      <a:r>
                        <a:t>WAPE</a:t>
                      </a:r>
                    </a:p>
                  </a:txBody>
                  <a:tcPr marT="18288" marB="18288" marL="36576" marR="36576">
                    <a:solidFill>
                      <a:srgbClr val="28354C"/>
                    </a:solidFill>
                  </a:tcPr>
                </a:tc>
                <a:tc>
                  <a:txBody>
                    <a:bodyPr/>
                    <a:lstStyle/>
                    <a:p>
                      <a:pPr algn="ctr">
                        <a:defRPr sz="950" b="1">
                          <a:solidFill>
                            <a:srgbClr val="38BDF8"/>
                          </a:solidFill>
                          <a:latin typeface="Calibri"/>
                        </a:defRPr>
                      </a:pPr>
                      <a:r>
                        <a:t>MASE</a:t>
                      </a:r>
                    </a:p>
                  </a:txBody>
                  <a:tcPr marT="18288" marB="18288" marL="36576" marR="36576">
                    <a:solidFill>
                      <a:srgbClr val="28354C"/>
                    </a:solidFill>
                  </a:tcPr>
                </a:tc>
                <a:tc>
                  <a:txBody>
                    <a:bodyPr/>
                    <a:lstStyle/>
                    <a:p>
                      <a:pPr algn="ctr">
                        <a:defRPr sz="950" b="1">
                          <a:solidFill>
                            <a:srgbClr val="38BDF8"/>
                          </a:solidFill>
                          <a:latin typeface="Calibri"/>
                        </a:defRPr>
                      </a:pPr>
                      <a:r>
                        <a:t>Skill Score</a:t>
                      </a:r>
                    </a:p>
                  </a:txBody>
                  <a:tcPr marT="18288" marB="18288" marL="36576" marR="36576">
                    <a:solidFill>
                      <a:srgbClr val="28354C"/>
                    </a:solidFill>
                  </a:tcPr>
                </a:tc>
                <a:tc>
                  <a:txBody>
                    <a:bodyPr/>
                    <a:lstStyle/>
                    <a:p>
                      <a:pPr algn="ctr">
                        <a:defRPr sz="950" b="1">
                          <a:solidFill>
                            <a:srgbClr val="38BDF8"/>
                          </a:solidFill>
                          <a:latin typeface="Calibri"/>
                        </a:defRPr>
                      </a:pPr>
                      <a:r>
                        <a:t>Benchmark Status</a:t>
                      </a:r>
                    </a:p>
                  </a:txBody>
                  <a:tcPr marT="18288" marB="18288" marL="36576" marR="36576">
                    <a:solidFill>
                      <a:srgbClr val="28354C"/>
                    </a:solidFill>
                  </a:tcPr>
                </a:tc>
              </a:tr>
              <a:tr h="201168">
                <a:tc gridSpan="8">
                  <a:txBody>
                    <a:bodyPr/>
                    <a:lstStyle/>
                    <a:p>
                      <a:pPr algn="l">
                        <a:defRPr sz="950" b="1">
                          <a:solidFill>
                            <a:srgbClr val="38BDF8"/>
                          </a:solidFill>
                          <a:latin typeface="Calibri"/>
                        </a:defRPr>
                      </a:pPr>
                      <a:r>
                        <a:t>LIQUID FUNDS (Core Working Capital, AUM: ₹6,25,847 Cr)</a:t>
                      </a:r>
                    </a:p>
                  </a:txBody>
                  <a:tcPr marT="18288" marB="18288" marL="73152" marR="36576">
                    <a:solidFill>
                      <a:srgbClr val="172554"/>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201168">
                <a:tc>
                  <a:txBody>
                    <a:bodyPr/>
                    <a:lstStyle/>
                    <a:p>
                      <a:pPr algn="ctr">
                        <a:defRPr sz="900">
                          <a:solidFill>
                            <a:srgbClr val="F8FAFC"/>
                          </a:solidFill>
                          <a:latin typeface="Calibri"/>
                        </a:defRPr>
                      </a:pPr>
                      <a:r>
                        <a:t>SARIMAX</a:t>
                      </a:r>
                    </a:p>
                  </a:txBody>
                  <a:tcPr marT="18288" marB="18288" marL="36576" marR="36576">
                    <a:solidFill>
                      <a:srgbClr val="1E293B"/>
                    </a:solidFill>
                  </a:tcPr>
                </a:tc>
                <a:tc>
                  <a:txBody>
                    <a:bodyPr/>
                    <a:lstStyle/>
                    <a:p>
                      <a:pPr algn="ctr">
                        <a:defRPr sz="900">
                          <a:solidFill>
                            <a:srgbClr val="CBD5E1"/>
                          </a:solidFill>
                          <a:latin typeface="Calibri"/>
                        </a:defRPr>
                      </a:pPr>
                      <a:r>
                        <a:t>1M (h=1)</a:t>
                      </a:r>
                    </a:p>
                  </a:txBody>
                  <a:tcPr marT="18288" marB="18288" marL="36576" marR="36576">
                    <a:solidFill>
                      <a:srgbClr val="1E293B"/>
                    </a:solidFill>
                  </a:tcPr>
                </a:tc>
                <a:tc>
                  <a:txBody>
                    <a:bodyPr/>
                    <a:lstStyle/>
                    <a:p>
                      <a:pPr algn="ctr">
                        <a:defRPr sz="900">
                          <a:solidFill>
                            <a:srgbClr val="CBD5E1"/>
                          </a:solidFill>
                          <a:latin typeface="Calibri"/>
                        </a:defRPr>
                      </a:pPr>
                      <a:r>
                        <a:t>₹27,618.17 Cr</a:t>
                      </a:r>
                    </a:p>
                  </a:txBody>
                  <a:tcPr marT="18288" marB="18288" marL="36576" marR="36576">
                    <a:solidFill>
                      <a:srgbClr val="1E293B"/>
                    </a:solidFill>
                  </a:tcPr>
                </a:tc>
                <a:tc>
                  <a:txBody>
                    <a:bodyPr/>
                    <a:lstStyle/>
                    <a:p>
                      <a:pPr algn="ctr">
                        <a:defRPr sz="900">
                          <a:solidFill>
                            <a:srgbClr val="CBD5E1"/>
                          </a:solidFill>
                          <a:latin typeface="Calibri"/>
                        </a:defRPr>
                      </a:pPr>
                      <a:r>
                        <a:t>₹35,765.32 Cr</a:t>
                      </a:r>
                    </a:p>
                  </a:txBody>
                  <a:tcPr marT="18288" marB="18288" marL="36576" marR="36576">
                    <a:solidFill>
                      <a:srgbClr val="1E293B"/>
                    </a:solidFill>
                  </a:tcPr>
                </a:tc>
                <a:tc>
                  <a:txBody>
                    <a:bodyPr/>
                    <a:lstStyle/>
                    <a:p>
                      <a:pPr algn="ctr">
                        <a:defRPr sz="900">
                          <a:solidFill>
                            <a:srgbClr val="CBD5E1"/>
                          </a:solidFill>
                          <a:latin typeface="Calibri"/>
                        </a:defRPr>
                      </a:pPr>
                      <a:r>
                        <a:t>44.12%</a:t>
                      </a:r>
                    </a:p>
                  </a:txBody>
                  <a:tcPr marT="18288" marB="18288" marL="36576" marR="36576">
                    <a:solidFill>
                      <a:srgbClr val="1E293B"/>
                    </a:solidFill>
                  </a:tcPr>
                </a:tc>
                <a:tc>
                  <a:txBody>
                    <a:bodyPr/>
                    <a:lstStyle/>
                    <a:p>
                      <a:pPr algn="ctr">
                        <a:defRPr sz="900">
                          <a:solidFill>
                            <a:srgbClr val="CBD5E1"/>
                          </a:solidFill>
                          <a:latin typeface="Calibri"/>
                        </a:defRPr>
                      </a:pPr>
                      <a:r>
                        <a:t>0.7144</a:t>
                      </a:r>
                    </a:p>
                  </a:txBody>
                  <a:tcPr marT="18288" marB="18288" marL="36576" marR="36576">
                    <a:solidFill>
                      <a:srgbClr val="1E293B"/>
                    </a:solidFill>
                  </a:tcPr>
                </a:tc>
                <a:tc>
                  <a:txBody>
                    <a:bodyPr/>
                    <a:lstStyle/>
                    <a:p>
                      <a:pPr algn="ctr">
                        <a:defRPr sz="900">
                          <a:solidFill>
                            <a:srgbClr val="CBD5E1"/>
                          </a:solidFill>
                          <a:latin typeface="Calibri"/>
                        </a:defRPr>
                      </a:pPr>
                      <a:r>
                        <a:t>+14.55%</a:t>
                      </a:r>
                    </a:p>
                  </a:txBody>
                  <a:tcPr marT="18288" marB="18288" marL="36576" marR="36576">
                    <a:solidFill>
                      <a:srgbClr val="1E293B"/>
                    </a:solidFill>
                  </a:tcPr>
                </a:tc>
                <a:tc>
                  <a:txBody>
                    <a:bodyPr/>
                    <a:lstStyle/>
                    <a:p>
                      <a:pPr algn="ctr">
                        <a:defRPr sz="900" b="1">
                          <a:solidFill>
                            <a:srgbClr val="34D399"/>
                          </a:solidFill>
                          <a:latin typeface="Calibri"/>
                        </a:defRPr>
                      </a:pPr>
                      <a:r>
                        <a:t>★ Winner (Top 1M–3M)</a:t>
                      </a:r>
                    </a:p>
                  </a:txBody>
                  <a:tcPr marT="18288" marB="18288" marL="36576" marR="36576">
                    <a:solidFill>
                      <a:srgbClr val="1E293B"/>
                    </a:solidFill>
                  </a:tcPr>
                </a:tc>
              </a:tr>
              <a:tr h="201168">
                <a:tc>
                  <a:txBody>
                    <a:bodyPr/>
                    <a:lstStyle/>
                    <a:p>
                      <a:pPr algn="ctr">
                        <a:defRPr sz="900">
                          <a:solidFill>
                            <a:srgbClr val="F8FAFC"/>
                          </a:solidFill>
                          <a:latin typeface="Calibri"/>
                        </a:defRPr>
                      </a:pPr>
                      <a:r>
                        <a:t>Seasonal-Naive</a:t>
                      </a:r>
                    </a:p>
                  </a:txBody>
                  <a:tcPr marT="18288" marB="18288" marL="36576" marR="36576">
                    <a:solidFill>
                      <a:srgbClr val="0F172A"/>
                    </a:solidFill>
                  </a:tcPr>
                </a:tc>
                <a:tc>
                  <a:txBody>
                    <a:bodyPr/>
                    <a:lstStyle/>
                    <a:p>
                      <a:pPr algn="ctr">
                        <a:defRPr sz="900">
                          <a:solidFill>
                            <a:srgbClr val="CBD5E1"/>
                          </a:solidFill>
                          <a:latin typeface="Calibri"/>
                        </a:defRPr>
                      </a:pPr>
                      <a:r>
                        <a:t>1M (h=1)</a:t>
                      </a:r>
                    </a:p>
                  </a:txBody>
                  <a:tcPr marT="18288" marB="18288" marL="36576" marR="36576">
                    <a:solidFill>
                      <a:srgbClr val="0F172A"/>
                    </a:solidFill>
                  </a:tcPr>
                </a:tc>
                <a:tc>
                  <a:txBody>
                    <a:bodyPr/>
                    <a:lstStyle/>
                    <a:p>
                      <a:pPr algn="ctr">
                        <a:defRPr sz="900">
                          <a:solidFill>
                            <a:srgbClr val="CBD5E1"/>
                          </a:solidFill>
                          <a:latin typeface="Calibri"/>
                        </a:defRPr>
                      </a:pPr>
                      <a:r>
                        <a:t>₹32,321.53 Cr</a:t>
                      </a:r>
                    </a:p>
                  </a:txBody>
                  <a:tcPr marT="18288" marB="18288" marL="36576" marR="36576">
                    <a:solidFill>
                      <a:srgbClr val="0F172A"/>
                    </a:solidFill>
                  </a:tcPr>
                </a:tc>
                <a:tc>
                  <a:txBody>
                    <a:bodyPr/>
                    <a:lstStyle/>
                    <a:p>
                      <a:pPr algn="ctr">
                        <a:defRPr sz="900">
                          <a:solidFill>
                            <a:srgbClr val="CBD5E1"/>
                          </a:solidFill>
                          <a:latin typeface="Calibri"/>
                        </a:defRPr>
                      </a:pPr>
                      <a:r>
                        <a:t>₹40,318.61 Cr</a:t>
                      </a:r>
                    </a:p>
                  </a:txBody>
                  <a:tcPr marT="18288" marB="18288" marL="36576" marR="36576">
                    <a:solidFill>
                      <a:srgbClr val="0F172A"/>
                    </a:solidFill>
                  </a:tcPr>
                </a:tc>
                <a:tc>
                  <a:txBody>
                    <a:bodyPr/>
                    <a:lstStyle/>
                    <a:p>
                      <a:pPr algn="ctr">
                        <a:defRPr sz="900">
                          <a:solidFill>
                            <a:srgbClr val="CBD5E1"/>
                          </a:solidFill>
                          <a:latin typeface="Calibri"/>
                        </a:defRPr>
                      </a:pPr>
                      <a:r>
                        <a:t>51.63%</a:t>
                      </a:r>
                    </a:p>
                  </a:txBody>
                  <a:tcPr marT="18288" marB="18288" marL="36576" marR="36576">
                    <a:solidFill>
                      <a:srgbClr val="0F172A"/>
                    </a:solidFill>
                  </a:tcPr>
                </a:tc>
                <a:tc>
                  <a:txBody>
                    <a:bodyPr/>
                    <a:lstStyle/>
                    <a:p>
                      <a:pPr algn="ctr">
                        <a:defRPr sz="900">
                          <a:solidFill>
                            <a:srgbClr val="CBD5E1"/>
                          </a:solidFill>
                          <a:latin typeface="Calibri"/>
                        </a:defRPr>
                      </a:pPr>
                      <a:r>
                        <a:t>0.8361</a:t>
                      </a:r>
                    </a:p>
                  </a:txBody>
                  <a:tcPr marT="18288" marB="18288" marL="36576" marR="36576">
                    <a:solidFill>
                      <a:srgbClr val="0F172A"/>
                    </a:solidFill>
                  </a:tcPr>
                </a:tc>
                <a:tc>
                  <a:txBody>
                    <a:bodyPr/>
                    <a:lstStyle/>
                    <a:p>
                      <a:pPr algn="ctr">
                        <a:defRPr sz="900">
                          <a:solidFill>
                            <a:srgbClr val="CBD5E1"/>
                          </a:solidFill>
                          <a:latin typeface="Calibri"/>
                        </a:defRPr>
                      </a:pPr>
                      <a:r>
                        <a:t>0.00%</a:t>
                      </a:r>
                    </a:p>
                  </a:txBody>
                  <a:tcPr marT="18288" marB="18288" marL="36576" marR="36576">
                    <a:solidFill>
                      <a:srgbClr val="0F172A"/>
                    </a:solidFill>
                  </a:tcPr>
                </a:tc>
                <a:tc>
                  <a:txBody>
                    <a:bodyPr/>
                    <a:lstStyle/>
                    <a:p>
                      <a:pPr algn="ctr">
                        <a:defRPr sz="900">
                          <a:solidFill>
                            <a:srgbClr val="CBD5E1"/>
                          </a:solidFill>
                          <a:latin typeface="Calibri"/>
                        </a:defRPr>
                      </a:pPr>
                      <a:r>
                        <a:t>Baseline Benchmark</a:t>
                      </a:r>
                    </a:p>
                  </a:txBody>
                  <a:tcPr marT="18288" marB="18288" marL="36576" marR="36576">
                    <a:solidFill>
                      <a:srgbClr val="0F172A"/>
                    </a:solidFill>
                  </a:tcPr>
                </a:tc>
              </a:tr>
              <a:tr h="201168">
                <a:tc>
                  <a:txBody>
                    <a:bodyPr/>
                    <a:lstStyle/>
                    <a:p>
                      <a:pPr algn="ctr">
                        <a:defRPr sz="900">
                          <a:solidFill>
                            <a:srgbClr val="F8FAFC"/>
                          </a:solidFill>
                          <a:latin typeface="Calibri"/>
                        </a:defRPr>
                      </a:pPr>
                      <a:r>
                        <a:t>ETS</a:t>
                      </a:r>
                    </a:p>
                  </a:txBody>
                  <a:tcPr marT="18288" marB="18288" marL="36576" marR="36576">
                    <a:solidFill>
                      <a:srgbClr val="1E293B"/>
                    </a:solidFill>
                  </a:tcPr>
                </a:tc>
                <a:tc>
                  <a:txBody>
                    <a:bodyPr/>
                    <a:lstStyle/>
                    <a:p>
                      <a:pPr algn="ctr">
                        <a:defRPr sz="900">
                          <a:solidFill>
                            <a:srgbClr val="CBD5E1"/>
                          </a:solidFill>
                          <a:latin typeface="Calibri"/>
                        </a:defRPr>
                      </a:pPr>
                      <a:r>
                        <a:t>1M (h=1)</a:t>
                      </a:r>
                    </a:p>
                  </a:txBody>
                  <a:tcPr marT="18288" marB="18288" marL="36576" marR="36576">
                    <a:solidFill>
                      <a:srgbClr val="1E293B"/>
                    </a:solidFill>
                  </a:tcPr>
                </a:tc>
                <a:tc>
                  <a:txBody>
                    <a:bodyPr/>
                    <a:lstStyle/>
                    <a:p>
                      <a:pPr algn="ctr">
                        <a:defRPr sz="900">
                          <a:solidFill>
                            <a:srgbClr val="CBD5E1"/>
                          </a:solidFill>
                          <a:latin typeface="Calibri"/>
                        </a:defRPr>
                      </a:pPr>
                      <a:r>
                        <a:t>₹41,157.21 Cr</a:t>
                      </a:r>
                    </a:p>
                  </a:txBody>
                  <a:tcPr marT="18288" marB="18288" marL="36576" marR="36576">
                    <a:solidFill>
                      <a:srgbClr val="1E293B"/>
                    </a:solidFill>
                  </a:tcPr>
                </a:tc>
                <a:tc>
                  <a:txBody>
                    <a:bodyPr/>
                    <a:lstStyle/>
                    <a:p>
                      <a:pPr algn="ctr">
                        <a:defRPr sz="900">
                          <a:solidFill>
                            <a:srgbClr val="CBD5E1"/>
                          </a:solidFill>
                          <a:latin typeface="Calibri"/>
                        </a:defRPr>
                      </a:pPr>
                      <a:r>
                        <a:t>₹50,464.32 Cr</a:t>
                      </a:r>
                    </a:p>
                  </a:txBody>
                  <a:tcPr marT="18288" marB="18288" marL="36576" marR="36576">
                    <a:solidFill>
                      <a:srgbClr val="1E293B"/>
                    </a:solidFill>
                  </a:tcPr>
                </a:tc>
                <a:tc>
                  <a:txBody>
                    <a:bodyPr/>
                    <a:lstStyle/>
                    <a:p>
                      <a:pPr algn="ctr">
                        <a:defRPr sz="900">
                          <a:solidFill>
                            <a:srgbClr val="CBD5E1"/>
                          </a:solidFill>
                          <a:latin typeface="Calibri"/>
                        </a:defRPr>
                      </a:pPr>
                      <a:r>
                        <a:t>65.74%</a:t>
                      </a:r>
                    </a:p>
                  </a:txBody>
                  <a:tcPr marT="18288" marB="18288" marL="36576" marR="36576">
                    <a:solidFill>
                      <a:srgbClr val="1E293B"/>
                    </a:solidFill>
                  </a:tcPr>
                </a:tc>
                <a:tc>
                  <a:txBody>
                    <a:bodyPr/>
                    <a:lstStyle/>
                    <a:p>
                      <a:pPr algn="ctr">
                        <a:defRPr sz="900">
                          <a:solidFill>
                            <a:srgbClr val="CBD5E1"/>
                          </a:solidFill>
                          <a:latin typeface="Calibri"/>
                        </a:defRPr>
                      </a:pPr>
                      <a:r>
                        <a:t>1.0646</a:t>
                      </a:r>
                    </a:p>
                  </a:txBody>
                  <a:tcPr marT="18288" marB="18288" marL="36576" marR="36576">
                    <a:solidFill>
                      <a:srgbClr val="1E293B"/>
                    </a:solidFill>
                  </a:tcPr>
                </a:tc>
                <a:tc>
                  <a:txBody>
                    <a:bodyPr/>
                    <a:lstStyle/>
                    <a:p>
                      <a:pPr algn="ctr">
                        <a:defRPr sz="900">
                          <a:solidFill>
                            <a:srgbClr val="F87171"/>
                          </a:solidFill>
                          <a:latin typeface="Calibri"/>
                        </a:defRPr>
                      </a:pPr>
                      <a:r>
                        <a:t>-27.34%</a:t>
                      </a:r>
                    </a:p>
                  </a:txBody>
                  <a:tcPr marT="18288" marB="18288" marL="36576" marR="36576">
                    <a:solidFill>
                      <a:srgbClr val="1E293B"/>
                    </a:solidFill>
                  </a:tcPr>
                </a:tc>
                <a:tc>
                  <a:txBody>
                    <a:bodyPr/>
                    <a:lstStyle/>
                    <a:p>
                      <a:pPr algn="ctr">
                        <a:defRPr sz="900">
                          <a:solidFill>
                            <a:srgbClr val="CBD5E1"/>
                          </a:solidFill>
                          <a:latin typeface="Calibri"/>
                        </a:defRPr>
                      </a:pPr>
                      <a:r>
                        <a:t>Underperforming</a:t>
                      </a:r>
                    </a:p>
                  </a:txBody>
                  <a:tcPr marT="18288" marB="18288" marL="36576" marR="36576">
                    <a:solidFill>
                      <a:srgbClr val="1E293B"/>
                    </a:solidFill>
                  </a:tcPr>
                </a:tc>
              </a:tr>
              <a:tr h="201168">
                <a:tc>
                  <a:txBody>
                    <a:bodyPr/>
                    <a:lstStyle/>
                    <a:p>
                      <a:pPr algn="ctr">
                        <a:defRPr sz="900">
                          <a:solidFill>
                            <a:srgbClr val="F8FAFC"/>
                          </a:solidFill>
                          <a:latin typeface="Calibri"/>
                        </a:defRPr>
                      </a:pPr>
                      <a:r>
                        <a:t>Ridge Direct</a:t>
                      </a:r>
                    </a:p>
                  </a:txBody>
                  <a:tcPr marT="18288" marB="18288" marL="36576" marR="36576">
                    <a:solidFill>
                      <a:srgbClr val="0F172A"/>
                    </a:solidFill>
                  </a:tcPr>
                </a:tc>
                <a:tc>
                  <a:txBody>
                    <a:bodyPr/>
                    <a:lstStyle/>
                    <a:p>
                      <a:pPr algn="ctr">
                        <a:defRPr sz="900">
                          <a:solidFill>
                            <a:srgbClr val="CBD5E1"/>
                          </a:solidFill>
                          <a:latin typeface="Calibri"/>
                        </a:defRPr>
                      </a:pPr>
                      <a:r>
                        <a:t>1M (h=1)</a:t>
                      </a:r>
                    </a:p>
                  </a:txBody>
                  <a:tcPr marT="18288" marB="18288" marL="36576" marR="36576">
                    <a:solidFill>
                      <a:srgbClr val="0F172A"/>
                    </a:solidFill>
                  </a:tcPr>
                </a:tc>
                <a:tc>
                  <a:txBody>
                    <a:bodyPr/>
                    <a:lstStyle/>
                    <a:p>
                      <a:pPr algn="ctr">
                        <a:defRPr sz="900">
                          <a:solidFill>
                            <a:srgbClr val="CBD5E1"/>
                          </a:solidFill>
                          <a:latin typeface="Calibri"/>
                        </a:defRPr>
                      </a:pPr>
                      <a:r>
                        <a:t>₹60,698.15 Cr</a:t>
                      </a:r>
                    </a:p>
                  </a:txBody>
                  <a:tcPr marT="18288" marB="18288" marL="36576" marR="36576">
                    <a:solidFill>
                      <a:srgbClr val="0F172A"/>
                    </a:solidFill>
                  </a:tcPr>
                </a:tc>
                <a:tc>
                  <a:txBody>
                    <a:bodyPr/>
                    <a:lstStyle/>
                    <a:p>
                      <a:pPr algn="ctr">
                        <a:defRPr sz="900">
                          <a:solidFill>
                            <a:srgbClr val="CBD5E1"/>
                          </a:solidFill>
                          <a:latin typeface="Calibri"/>
                        </a:defRPr>
                      </a:pPr>
                      <a:r>
                        <a:t>₹78,866.64 Cr</a:t>
                      </a:r>
                    </a:p>
                  </a:txBody>
                  <a:tcPr marT="18288" marB="18288" marL="36576" marR="36576">
                    <a:solidFill>
                      <a:srgbClr val="0F172A"/>
                    </a:solidFill>
                  </a:tcPr>
                </a:tc>
                <a:tc>
                  <a:txBody>
                    <a:bodyPr/>
                    <a:lstStyle/>
                    <a:p>
                      <a:pPr algn="ctr">
                        <a:defRPr sz="900">
                          <a:solidFill>
                            <a:srgbClr val="CBD5E1"/>
                          </a:solidFill>
                          <a:latin typeface="Calibri"/>
                        </a:defRPr>
                      </a:pPr>
                      <a:r>
                        <a:t>96.96%</a:t>
                      </a:r>
                    </a:p>
                  </a:txBody>
                  <a:tcPr marT="18288" marB="18288" marL="36576" marR="36576">
                    <a:solidFill>
                      <a:srgbClr val="0F172A"/>
                    </a:solidFill>
                  </a:tcPr>
                </a:tc>
                <a:tc>
                  <a:txBody>
                    <a:bodyPr/>
                    <a:lstStyle/>
                    <a:p>
                      <a:pPr algn="ctr">
                        <a:defRPr sz="900">
                          <a:solidFill>
                            <a:srgbClr val="CBD5E1"/>
                          </a:solidFill>
                          <a:latin typeface="Calibri"/>
                        </a:defRPr>
                      </a:pPr>
                      <a:r>
                        <a:t>1.5701</a:t>
                      </a:r>
                    </a:p>
                  </a:txBody>
                  <a:tcPr marT="18288" marB="18288" marL="36576" marR="36576">
                    <a:solidFill>
                      <a:srgbClr val="0F172A"/>
                    </a:solidFill>
                  </a:tcPr>
                </a:tc>
                <a:tc>
                  <a:txBody>
                    <a:bodyPr/>
                    <a:lstStyle/>
                    <a:p>
                      <a:pPr algn="ctr">
                        <a:defRPr sz="900">
                          <a:solidFill>
                            <a:srgbClr val="F87171"/>
                          </a:solidFill>
                          <a:latin typeface="Calibri"/>
                        </a:defRPr>
                      </a:pPr>
                      <a:r>
                        <a:t>-87.79%</a:t>
                      </a:r>
                    </a:p>
                  </a:txBody>
                  <a:tcPr marT="18288" marB="18288" marL="36576" marR="36576">
                    <a:solidFill>
                      <a:srgbClr val="0F172A"/>
                    </a:solidFill>
                  </a:tcPr>
                </a:tc>
                <a:tc>
                  <a:txBody>
                    <a:bodyPr/>
                    <a:lstStyle/>
                    <a:p>
                      <a:pPr algn="ctr">
                        <a:defRPr sz="900">
                          <a:solidFill>
                            <a:srgbClr val="CBD5E1"/>
                          </a:solidFill>
                          <a:latin typeface="Calibri"/>
                        </a:defRPr>
                      </a:pPr>
                      <a:r>
                        <a:t>Underperforming</a:t>
                      </a:r>
                    </a:p>
                  </a:txBody>
                  <a:tcPr marT="18288" marB="18288" marL="36576" marR="36576">
                    <a:solidFill>
                      <a:srgbClr val="0F172A"/>
                    </a:solidFill>
                  </a:tcPr>
                </a:tc>
              </a:tr>
              <a:tr h="201168">
                <a:tc gridSpan="8">
                  <a:txBody>
                    <a:bodyPr/>
                    <a:lstStyle/>
                    <a:p>
                      <a:pPr algn="l">
                        <a:defRPr sz="950" b="1">
                          <a:solidFill>
                            <a:srgbClr val="FBBF24"/>
                          </a:solidFill>
                          <a:latin typeface="Calibri"/>
                        </a:defRPr>
                      </a:pPr>
                      <a:r>
                        <a:t>OVERNIGHT FUNDS (Hyper-Velocity Cash, AUM: ₹84,033 Cr)</a:t>
                      </a:r>
                    </a:p>
                  </a:txBody>
                  <a:tcPr marT="18288" marB="18288" marL="73152" marR="36576">
                    <a:solidFill>
                      <a:srgbClr val="172554"/>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201168">
                <a:tc>
                  <a:txBody>
                    <a:bodyPr/>
                    <a:lstStyle/>
                    <a:p>
                      <a:pPr algn="ctr">
                        <a:defRPr sz="900">
                          <a:solidFill>
                            <a:srgbClr val="F8FAFC"/>
                          </a:solidFill>
                          <a:latin typeface="Calibri"/>
                        </a:defRPr>
                      </a:pPr>
                      <a:r>
                        <a:t>SARIMAX</a:t>
                      </a:r>
                    </a:p>
                  </a:txBody>
                  <a:tcPr marT="18288" marB="18288" marL="36576" marR="36576">
                    <a:solidFill>
                      <a:srgbClr val="0F172A"/>
                    </a:solidFill>
                  </a:tcPr>
                </a:tc>
                <a:tc>
                  <a:txBody>
                    <a:bodyPr/>
                    <a:lstStyle/>
                    <a:p>
                      <a:pPr algn="ctr">
                        <a:defRPr sz="900">
                          <a:solidFill>
                            <a:srgbClr val="CBD5E1"/>
                          </a:solidFill>
                          <a:latin typeface="Calibri"/>
                        </a:defRPr>
                      </a:pPr>
                      <a:r>
                        <a:t>1M (h=1)</a:t>
                      </a:r>
                    </a:p>
                  </a:txBody>
                  <a:tcPr marT="18288" marB="18288" marL="36576" marR="36576">
                    <a:solidFill>
                      <a:srgbClr val="0F172A"/>
                    </a:solidFill>
                  </a:tcPr>
                </a:tc>
                <a:tc>
                  <a:txBody>
                    <a:bodyPr/>
                    <a:lstStyle/>
                    <a:p>
                      <a:pPr algn="ctr">
                        <a:defRPr sz="900">
                          <a:solidFill>
                            <a:srgbClr val="CBD5E1"/>
                          </a:solidFill>
                          <a:latin typeface="Calibri"/>
                        </a:defRPr>
                      </a:pPr>
                      <a:r>
                        <a:t>₹13,940.84 Cr</a:t>
                      </a:r>
                    </a:p>
                  </a:txBody>
                  <a:tcPr marT="18288" marB="18288" marL="36576" marR="36576">
                    <a:solidFill>
                      <a:srgbClr val="0F172A"/>
                    </a:solidFill>
                  </a:tcPr>
                </a:tc>
                <a:tc>
                  <a:txBody>
                    <a:bodyPr/>
                    <a:lstStyle/>
                    <a:p>
                      <a:pPr algn="ctr">
                        <a:defRPr sz="900">
                          <a:solidFill>
                            <a:srgbClr val="CBD5E1"/>
                          </a:solidFill>
                          <a:latin typeface="Calibri"/>
                        </a:defRPr>
                      </a:pPr>
                      <a:r>
                        <a:t>₹17,784.25 Cr</a:t>
                      </a:r>
                    </a:p>
                  </a:txBody>
                  <a:tcPr marT="18288" marB="18288" marL="36576" marR="36576">
                    <a:solidFill>
                      <a:srgbClr val="0F172A"/>
                    </a:solidFill>
                  </a:tcPr>
                </a:tc>
                <a:tc>
                  <a:txBody>
                    <a:bodyPr/>
                    <a:lstStyle/>
                    <a:p>
                      <a:pPr algn="ctr">
                        <a:defRPr sz="900">
                          <a:solidFill>
                            <a:srgbClr val="CBD5E1"/>
                          </a:solidFill>
                          <a:latin typeface="Calibri"/>
                        </a:defRPr>
                      </a:pPr>
                      <a:r>
                        <a:t>73.62%</a:t>
                      </a:r>
                    </a:p>
                  </a:txBody>
                  <a:tcPr marT="18288" marB="18288" marL="36576" marR="36576">
                    <a:solidFill>
                      <a:srgbClr val="0F172A"/>
                    </a:solidFill>
                  </a:tcPr>
                </a:tc>
                <a:tc>
                  <a:txBody>
                    <a:bodyPr/>
                    <a:lstStyle/>
                    <a:p>
                      <a:pPr algn="ctr">
                        <a:defRPr sz="900">
                          <a:solidFill>
                            <a:srgbClr val="CBD5E1"/>
                          </a:solidFill>
                          <a:latin typeface="Calibri"/>
                        </a:defRPr>
                      </a:pPr>
                      <a:r>
                        <a:t>0.9799</a:t>
                      </a:r>
                    </a:p>
                  </a:txBody>
                  <a:tcPr marT="18288" marB="18288" marL="36576" marR="36576">
                    <a:solidFill>
                      <a:srgbClr val="0F172A"/>
                    </a:solidFill>
                  </a:tcPr>
                </a:tc>
                <a:tc>
                  <a:txBody>
                    <a:bodyPr/>
                    <a:lstStyle/>
                    <a:p>
                      <a:pPr algn="ctr">
                        <a:defRPr sz="900">
                          <a:solidFill>
                            <a:srgbClr val="CBD5E1"/>
                          </a:solidFill>
                          <a:latin typeface="Calibri"/>
                        </a:defRPr>
                      </a:pPr>
                      <a:r>
                        <a:t>+7.62%</a:t>
                      </a:r>
                    </a:p>
                  </a:txBody>
                  <a:tcPr marT="18288" marB="18288" marL="36576" marR="36576">
                    <a:solidFill>
                      <a:srgbClr val="0F172A"/>
                    </a:solidFill>
                  </a:tcPr>
                </a:tc>
                <a:tc>
                  <a:txBody>
                    <a:bodyPr/>
                    <a:lstStyle/>
                    <a:p>
                      <a:pPr algn="ctr">
                        <a:defRPr sz="900" b="1">
                          <a:solidFill>
                            <a:srgbClr val="34D399"/>
                          </a:solidFill>
                          <a:latin typeface="Calibri"/>
                        </a:defRPr>
                      </a:pPr>
                      <a:r>
                        <a:t>★ Winner at 1M</a:t>
                      </a:r>
                    </a:p>
                  </a:txBody>
                  <a:tcPr marT="18288" marB="18288" marL="36576" marR="36576">
                    <a:solidFill>
                      <a:srgbClr val="0F172A"/>
                    </a:solidFill>
                  </a:tcPr>
                </a:tc>
              </a:tr>
              <a:tr h="201168">
                <a:tc>
                  <a:txBody>
                    <a:bodyPr/>
                    <a:lstStyle/>
                    <a:p>
                      <a:pPr algn="ctr">
                        <a:defRPr sz="900">
                          <a:solidFill>
                            <a:srgbClr val="F8FAFC"/>
                          </a:solidFill>
                          <a:latin typeface="Calibri"/>
                        </a:defRPr>
                      </a:pPr>
                      <a:r>
                        <a:t>Seasonal-Naive</a:t>
                      </a:r>
                    </a:p>
                  </a:txBody>
                  <a:tcPr marT="18288" marB="18288" marL="36576" marR="36576">
                    <a:solidFill>
                      <a:srgbClr val="1E293B"/>
                    </a:solidFill>
                  </a:tcPr>
                </a:tc>
                <a:tc>
                  <a:txBody>
                    <a:bodyPr/>
                    <a:lstStyle/>
                    <a:p>
                      <a:pPr algn="ctr">
                        <a:defRPr sz="900">
                          <a:solidFill>
                            <a:srgbClr val="CBD5E1"/>
                          </a:solidFill>
                          <a:latin typeface="Calibri"/>
                        </a:defRPr>
                      </a:pPr>
                      <a:r>
                        <a:t>1M (h=1)</a:t>
                      </a:r>
                    </a:p>
                  </a:txBody>
                  <a:tcPr marT="18288" marB="18288" marL="36576" marR="36576">
                    <a:solidFill>
                      <a:srgbClr val="1E293B"/>
                    </a:solidFill>
                  </a:tcPr>
                </a:tc>
                <a:tc>
                  <a:txBody>
                    <a:bodyPr/>
                    <a:lstStyle/>
                    <a:p>
                      <a:pPr algn="ctr">
                        <a:defRPr sz="900">
                          <a:solidFill>
                            <a:srgbClr val="CBD5E1"/>
                          </a:solidFill>
                          <a:latin typeface="Calibri"/>
                        </a:defRPr>
                      </a:pPr>
                      <a:r>
                        <a:t>₹15,090.39 Cr</a:t>
                      </a:r>
                    </a:p>
                  </a:txBody>
                  <a:tcPr marT="18288" marB="18288" marL="36576" marR="36576">
                    <a:solidFill>
                      <a:srgbClr val="1E293B"/>
                    </a:solidFill>
                  </a:tcPr>
                </a:tc>
                <a:tc>
                  <a:txBody>
                    <a:bodyPr/>
                    <a:lstStyle/>
                    <a:p>
                      <a:pPr algn="ctr">
                        <a:defRPr sz="900">
                          <a:solidFill>
                            <a:srgbClr val="CBD5E1"/>
                          </a:solidFill>
                          <a:latin typeface="Calibri"/>
                        </a:defRPr>
                      </a:pPr>
                      <a:r>
                        <a:t>₹18,116.13 Cr</a:t>
                      </a:r>
                    </a:p>
                  </a:txBody>
                  <a:tcPr marT="18288" marB="18288" marL="36576" marR="36576">
                    <a:solidFill>
                      <a:srgbClr val="1E293B"/>
                    </a:solidFill>
                  </a:tcPr>
                </a:tc>
                <a:tc>
                  <a:txBody>
                    <a:bodyPr/>
                    <a:lstStyle/>
                    <a:p>
                      <a:pPr algn="ctr">
                        <a:defRPr sz="900">
                          <a:solidFill>
                            <a:srgbClr val="CBD5E1"/>
                          </a:solidFill>
                          <a:latin typeface="Calibri"/>
                        </a:defRPr>
                      </a:pPr>
                      <a:r>
                        <a:t>79.69%</a:t>
                      </a:r>
                    </a:p>
                  </a:txBody>
                  <a:tcPr marT="18288" marB="18288" marL="36576" marR="36576">
                    <a:solidFill>
                      <a:srgbClr val="1E293B"/>
                    </a:solidFill>
                  </a:tcPr>
                </a:tc>
                <a:tc>
                  <a:txBody>
                    <a:bodyPr/>
                    <a:lstStyle/>
                    <a:p>
                      <a:pPr algn="ctr">
                        <a:defRPr sz="900">
                          <a:solidFill>
                            <a:srgbClr val="CBD5E1"/>
                          </a:solidFill>
                          <a:latin typeface="Calibri"/>
                        </a:defRPr>
                      </a:pPr>
                      <a:r>
                        <a:t>1.0607</a:t>
                      </a:r>
                    </a:p>
                  </a:txBody>
                  <a:tcPr marT="18288" marB="18288" marL="36576" marR="36576">
                    <a:solidFill>
                      <a:srgbClr val="1E293B"/>
                    </a:solidFill>
                  </a:tcPr>
                </a:tc>
                <a:tc>
                  <a:txBody>
                    <a:bodyPr/>
                    <a:lstStyle/>
                    <a:p>
                      <a:pPr algn="ctr">
                        <a:defRPr sz="900">
                          <a:solidFill>
                            <a:srgbClr val="CBD5E1"/>
                          </a:solidFill>
                          <a:latin typeface="Calibri"/>
                        </a:defRPr>
                      </a:pPr>
                      <a:r>
                        <a:t>0.00%</a:t>
                      </a:r>
                    </a:p>
                  </a:txBody>
                  <a:tcPr marT="18288" marB="18288" marL="36576" marR="36576">
                    <a:solidFill>
                      <a:srgbClr val="1E293B"/>
                    </a:solidFill>
                  </a:tcPr>
                </a:tc>
                <a:tc>
                  <a:txBody>
                    <a:bodyPr/>
                    <a:lstStyle/>
                    <a:p>
                      <a:pPr algn="ctr">
                        <a:defRPr sz="900">
                          <a:solidFill>
                            <a:srgbClr val="CBD5E1"/>
                          </a:solidFill>
                          <a:latin typeface="Calibri"/>
                        </a:defRPr>
                      </a:pPr>
                      <a:r>
                        <a:t>Baseline Benchmark</a:t>
                      </a:r>
                    </a:p>
                  </a:txBody>
                  <a:tcPr marT="18288" marB="18288" marL="36576" marR="36576">
                    <a:solidFill>
                      <a:srgbClr val="1E293B"/>
                    </a:solidFill>
                  </a:tcPr>
                </a:tc>
              </a:tr>
              <a:tr h="201168">
                <a:tc>
                  <a:txBody>
                    <a:bodyPr/>
                    <a:lstStyle/>
                    <a:p>
                      <a:pPr algn="ctr">
                        <a:defRPr sz="900">
                          <a:solidFill>
                            <a:srgbClr val="F8FAFC"/>
                          </a:solidFill>
                          <a:latin typeface="Calibri"/>
                        </a:defRPr>
                      </a:pPr>
                      <a:r>
                        <a:t>Seasonal-Naive</a:t>
                      </a:r>
                    </a:p>
                  </a:txBody>
                  <a:tcPr marT="18288" marB="18288" marL="36576" marR="36576">
                    <a:solidFill>
                      <a:srgbClr val="0F172A"/>
                    </a:solidFill>
                  </a:tcPr>
                </a:tc>
                <a:tc>
                  <a:txBody>
                    <a:bodyPr/>
                    <a:lstStyle/>
                    <a:p>
                      <a:pPr algn="ctr">
                        <a:defRPr sz="900">
                          <a:solidFill>
                            <a:srgbClr val="CBD5E1"/>
                          </a:solidFill>
                          <a:latin typeface="Calibri"/>
                        </a:defRPr>
                      </a:pPr>
                      <a:r>
                        <a:t>2M (h=2)</a:t>
                      </a:r>
                    </a:p>
                  </a:txBody>
                  <a:tcPr marT="18288" marB="18288" marL="36576" marR="36576">
                    <a:solidFill>
                      <a:srgbClr val="0F172A"/>
                    </a:solidFill>
                  </a:tcPr>
                </a:tc>
                <a:tc>
                  <a:txBody>
                    <a:bodyPr/>
                    <a:lstStyle/>
                    <a:p>
                      <a:pPr algn="ctr">
                        <a:defRPr sz="900">
                          <a:solidFill>
                            <a:srgbClr val="CBD5E1"/>
                          </a:solidFill>
                          <a:latin typeface="Calibri"/>
                        </a:defRPr>
                      </a:pPr>
                      <a:r>
                        <a:t>₹16,076.12 Cr</a:t>
                      </a:r>
                    </a:p>
                  </a:txBody>
                  <a:tcPr marT="18288" marB="18288" marL="36576" marR="36576">
                    <a:solidFill>
                      <a:srgbClr val="0F172A"/>
                    </a:solidFill>
                  </a:tcPr>
                </a:tc>
                <a:tc>
                  <a:txBody>
                    <a:bodyPr/>
                    <a:lstStyle/>
                    <a:p>
                      <a:pPr algn="ctr">
                        <a:defRPr sz="900">
                          <a:solidFill>
                            <a:srgbClr val="CBD5E1"/>
                          </a:solidFill>
                          <a:latin typeface="Calibri"/>
                        </a:defRPr>
                      </a:pPr>
                      <a:r>
                        <a:t>₹19,366.68 Cr</a:t>
                      </a:r>
                    </a:p>
                  </a:txBody>
                  <a:tcPr marT="18288" marB="18288" marL="36576" marR="36576">
                    <a:solidFill>
                      <a:srgbClr val="0F172A"/>
                    </a:solidFill>
                  </a:tcPr>
                </a:tc>
                <a:tc>
                  <a:txBody>
                    <a:bodyPr/>
                    <a:lstStyle/>
                    <a:p>
                      <a:pPr algn="ctr">
                        <a:defRPr sz="900">
                          <a:solidFill>
                            <a:srgbClr val="CBD5E1"/>
                          </a:solidFill>
                          <a:latin typeface="Calibri"/>
                        </a:defRPr>
                      </a:pPr>
                      <a:r>
                        <a:t>82.08%</a:t>
                      </a:r>
                    </a:p>
                  </a:txBody>
                  <a:tcPr marT="18288" marB="18288" marL="36576" marR="36576">
                    <a:solidFill>
                      <a:srgbClr val="0F172A"/>
                    </a:solidFill>
                  </a:tcPr>
                </a:tc>
                <a:tc>
                  <a:txBody>
                    <a:bodyPr/>
                    <a:lstStyle/>
                    <a:p>
                      <a:pPr algn="ctr">
                        <a:defRPr sz="900">
                          <a:solidFill>
                            <a:srgbClr val="CBD5E1"/>
                          </a:solidFill>
                          <a:latin typeface="Calibri"/>
                        </a:defRPr>
                      </a:pPr>
                      <a:r>
                        <a:t>1.1300</a:t>
                      </a:r>
                    </a:p>
                  </a:txBody>
                  <a:tcPr marT="18288" marB="18288" marL="36576" marR="36576">
                    <a:solidFill>
                      <a:srgbClr val="0F172A"/>
                    </a:solidFill>
                  </a:tcPr>
                </a:tc>
                <a:tc>
                  <a:txBody>
                    <a:bodyPr/>
                    <a:lstStyle/>
                    <a:p>
                      <a:pPr algn="ctr">
                        <a:defRPr sz="900" b="1">
                          <a:solidFill>
                            <a:srgbClr val="34D399"/>
                          </a:solidFill>
                          <a:latin typeface="Calibri"/>
                        </a:defRPr>
                      </a:pPr>
                      <a:r>
                        <a:t>Top 2M</a:t>
                      </a:r>
                    </a:p>
                  </a:txBody>
                  <a:tcPr marT="18288" marB="18288" marL="36576" marR="36576">
                    <a:solidFill>
                      <a:srgbClr val="0F172A"/>
                    </a:solidFill>
                  </a:tcPr>
                </a:tc>
                <a:tc>
                  <a:txBody>
                    <a:bodyPr/>
                    <a:lstStyle/>
                    <a:p>
                      <a:pPr algn="ctr">
                        <a:defRPr sz="900" b="1">
                          <a:solidFill>
                            <a:srgbClr val="34D399"/>
                          </a:solidFill>
                          <a:latin typeface="Calibri"/>
                        </a:defRPr>
                      </a:pPr>
                      <a:r>
                        <a:t>★ Winner at 2M</a:t>
                      </a:r>
                    </a:p>
                  </a:txBody>
                  <a:tcPr marT="18288" marB="18288" marL="36576" marR="36576">
                    <a:solidFill>
                      <a:srgbClr val="0F172A"/>
                    </a:solidFill>
                  </a:tcPr>
                </a:tc>
              </a:tr>
              <a:tr h="201168">
                <a:tc>
                  <a:txBody>
                    <a:bodyPr/>
                    <a:lstStyle/>
                    <a:p>
                      <a:pPr algn="ctr">
                        <a:defRPr sz="900">
                          <a:solidFill>
                            <a:srgbClr val="F8FAFC"/>
                          </a:solidFill>
                          <a:latin typeface="Calibri"/>
                        </a:defRPr>
                      </a:pPr>
                      <a:r>
                        <a:t>Seasonal-Naive</a:t>
                      </a:r>
                    </a:p>
                  </a:txBody>
                  <a:tcPr marT="18288" marB="18288" marL="36576" marR="36576">
                    <a:solidFill>
                      <a:srgbClr val="1E293B"/>
                    </a:solidFill>
                  </a:tcPr>
                </a:tc>
                <a:tc>
                  <a:txBody>
                    <a:bodyPr/>
                    <a:lstStyle/>
                    <a:p>
                      <a:pPr algn="ctr">
                        <a:defRPr sz="900">
                          <a:solidFill>
                            <a:srgbClr val="CBD5E1"/>
                          </a:solidFill>
                          <a:latin typeface="Calibri"/>
                        </a:defRPr>
                      </a:pPr>
                      <a:r>
                        <a:t>3M (h=3)</a:t>
                      </a:r>
                    </a:p>
                  </a:txBody>
                  <a:tcPr marT="18288" marB="18288" marL="36576" marR="36576">
                    <a:solidFill>
                      <a:srgbClr val="1E293B"/>
                    </a:solidFill>
                  </a:tcPr>
                </a:tc>
                <a:tc>
                  <a:txBody>
                    <a:bodyPr/>
                    <a:lstStyle/>
                    <a:p>
                      <a:pPr algn="ctr">
                        <a:defRPr sz="900">
                          <a:solidFill>
                            <a:srgbClr val="CBD5E1"/>
                          </a:solidFill>
                          <a:latin typeface="Calibri"/>
                        </a:defRPr>
                      </a:pPr>
                      <a:r>
                        <a:t>₹15,804.12 Cr</a:t>
                      </a:r>
                    </a:p>
                  </a:txBody>
                  <a:tcPr marT="18288" marB="18288" marL="36576" marR="36576">
                    <a:solidFill>
                      <a:srgbClr val="1E293B"/>
                    </a:solidFill>
                  </a:tcPr>
                </a:tc>
                <a:tc>
                  <a:txBody>
                    <a:bodyPr/>
                    <a:lstStyle/>
                    <a:p>
                      <a:pPr algn="ctr">
                        <a:defRPr sz="900">
                          <a:solidFill>
                            <a:srgbClr val="CBD5E1"/>
                          </a:solidFill>
                          <a:latin typeface="Calibri"/>
                        </a:defRPr>
                      </a:pPr>
                      <a:r>
                        <a:t>₹19,157.35 Cr</a:t>
                      </a:r>
                    </a:p>
                  </a:txBody>
                  <a:tcPr marT="18288" marB="18288" marL="36576" marR="36576">
                    <a:solidFill>
                      <a:srgbClr val="1E293B"/>
                    </a:solidFill>
                  </a:tcPr>
                </a:tc>
                <a:tc>
                  <a:txBody>
                    <a:bodyPr/>
                    <a:lstStyle/>
                    <a:p>
                      <a:pPr algn="ctr">
                        <a:defRPr sz="900">
                          <a:solidFill>
                            <a:srgbClr val="CBD5E1"/>
                          </a:solidFill>
                          <a:latin typeface="Calibri"/>
                        </a:defRPr>
                      </a:pPr>
                      <a:r>
                        <a:t>82.82%</a:t>
                      </a:r>
                    </a:p>
                  </a:txBody>
                  <a:tcPr marT="18288" marB="18288" marL="36576" marR="36576">
                    <a:solidFill>
                      <a:srgbClr val="1E293B"/>
                    </a:solidFill>
                  </a:tcPr>
                </a:tc>
                <a:tc>
                  <a:txBody>
                    <a:bodyPr/>
                    <a:lstStyle/>
                    <a:p>
                      <a:pPr algn="ctr">
                        <a:defRPr sz="900">
                          <a:solidFill>
                            <a:srgbClr val="CBD5E1"/>
                          </a:solidFill>
                          <a:latin typeface="Calibri"/>
                        </a:defRPr>
                      </a:pPr>
                      <a:r>
                        <a:t>1.1109</a:t>
                      </a:r>
                    </a:p>
                  </a:txBody>
                  <a:tcPr marT="18288" marB="18288" marL="36576" marR="36576">
                    <a:solidFill>
                      <a:srgbClr val="1E293B"/>
                    </a:solidFill>
                  </a:tcPr>
                </a:tc>
                <a:tc>
                  <a:txBody>
                    <a:bodyPr/>
                    <a:lstStyle/>
                    <a:p>
                      <a:pPr algn="ctr">
                        <a:defRPr sz="900" b="1">
                          <a:solidFill>
                            <a:srgbClr val="34D399"/>
                          </a:solidFill>
                          <a:latin typeface="Calibri"/>
                        </a:defRPr>
                      </a:pPr>
                      <a:r>
                        <a:t>Top 3M</a:t>
                      </a:r>
                    </a:p>
                  </a:txBody>
                  <a:tcPr marT="18288" marB="18288" marL="36576" marR="36576">
                    <a:solidFill>
                      <a:srgbClr val="1E293B"/>
                    </a:solidFill>
                  </a:tcPr>
                </a:tc>
                <a:tc>
                  <a:txBody>
                    <a:bodyPr/>
                    <a:lstStyle/>
                    <a:p>
                      <a:pPr algn="ctr">
                        <a:defRPr sz="900" b="1">
                          <a:solidFill>
                            <a:srgbClr val="34D399"/>
                          </a:solidFill>
                          <a:latin typeface="Calibri"/>
                        </a:defRPr>
                      </a:pPr>
                      <a:r>
                        <a:t>★ Winner at 3M</a:t>
                      </a:r>
                    </a:p>
                  </a:txBody>
                  <a:tcPr marT="18288" marB="18288" marL="36576" marR="36576">
                    <a:solidFill>
                      <a:srgbClr val="1E293B"/>
                    </a:solidFill>
                  </a:tcPr>
                </a:tc>
              </a:tr>
            </a:tbl>
          </a:graphicData>
        </a:graphic>
      </p:graphicFrame>
      <p:sp>
        <p:nvSpPr>
          <p:cNvPr id="7" name="Rounded Rectangle 6"/>
          <p:cNvSpPr/>
          <p:nvPr/>
        </p:nvSpPr>
        <p:spPr>
          <a:xfrm>
            <a:off x="731520" y="388620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995928"/>
            <a:ext cx="4882896" cy="1975104"/>
          </a:xfrm>
          <a:prstGeom prst="rect">
            <a:avLst/>
          </a:prstGeom>
          <a:noFill/>
        </p:spPr>
        <p:txBody>
          <a:bodyPr wrap="square" lIns="0" rIns="0" tIns="0" bIns="0">
            <a:spAutoFit/>
          </a:bodyPr>
          <a:lstStyle/>
          <a:p>
            <a:pPr>
              <a:spcAft>
                <a:spcPts val="400"/>
              </a:spcAft>
              <a:defRPr sz="1200" b="1">
                <a:solidFill>
                  <a:srgbClr val="60A5FA"/>
                </a:solidFill>
                <a:latin typeface="Calibri"/>
              </a:defRPr>
            </a:pPr>
            <a:r>
              <a:t>Empirical Model Hierarchy Takeaway</a:t>
            </a:r>
          </a:p>
          <a:p>
            <a:pPr>
              <a:spcAft>
                <a:spcPts val="400"/>
              </a:spcAft>
            </a:pPr>
            <a:r>
              <a:rPr b="1" sz="1000">
                <a:solidFill>
                  <a:srgbClr val="F8FAFC"/>
                </a:solidFill>
                <a:latin typeface="Calibri"/>
              </a:rPr>
              <a:t>Liquid Funds (SARIMAX Dominant): </a:t>
            </a:r>
            <a:r>
              <a:rPr sz="950">
                <a:solidFill>
                  <a:srgbClr val="CBD5E1"/>
                </a:solidFill>
                <a:latin typeface="Calibri"/>
              </a:rPr>
              <a:t>SARIMAX outperforms across all horizons (1M: ₹27,618 Cr [+14.55% Skill], 2M: ₹31,620 Cr, 3M: ₹33,087 Cr) due to deterministic advance-tax exogenous regressors.</a:t>
            </a:r>
          </a:p>
          <a:p>
            <a:pPr>
              <a:spcAft>
                <a:spcPts val="200"/>
              </a:spcAft>
            </a:pPr>
            <a:r>
              <a:rPr b="1" sz="1000">
                <a:solidFill>
                  <a:srgbClr val="F8FAFC"/>
                </a:solidFill>
                <a:latin typeface="Calibri"/>
              </a:rPr>
              <a:t>Overnight Funds (Horizon Split): </a:t>
            </a:r>
            <a:r>
              <a:rPr sz="950">
                <a:solidFill>
                  <a:srgbClr val="CBD5E1"/>
                </a:solidFill>
                <a:latin typeface="Calibri"/>
              </a:rPr>
              <a:t>SARIMAX wins at Horizon 1 (MAE ₹13,941 Cr, +7.62% Skill). Beyond 1 month, Seasonal-Naive wins (MAE ₹16,076 Cr at 2M, ₹15,804 Cr at 3M) as macro relationships break down under 545% turnover.</a:t>
            </a:r>
          </a:p>
        </p:txBody>
      </p:sp>
      <p:sp>
        <p:nvSpPr>
          <p:cNvPr id="9" name="Rounded Rectangle 8"/>
          <p:cNvSpPr/>
          <p:nvPr/>
        </p:nvSpPr>
        <p:spPr>
          <a:xfrm>
            <a:off x="6248095" y="3886200"/>
            <a:ext cx="52120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2687" y="3995928"/>
            <a:ext cx="4882896" cy="1975104"/>
          </a:xfrm>
          <a:prstGeom prst="rect">
            <a:avLst/>
          </a:prstGeom>
          <a:noFill/>
        </p:spPr>
        <p:txBody>
          <a:bodyPr wrap="square" lIns="0" rIns="0" tIns="0" bIns="0">
            <a:spAutoFit/>
          </a:bodyPr>
          <a:lstStyle/>
          <a:p>
            <a:pPr>
              <a:spcAft>
                <a:spcPts val="400"/>
              </a:spcAft>
              <a:defRPr sz="1200" b="1">
                <a:solidFill>
                  <a:srgbClr val="34D399"/>
                </a:solidFill>
                <a:latin typeface="Calibri"/>
              </a:defRPr>
            </a:pPr>
            <a:r>
              <a:t>Forward Projections by Selected Model (Origin: Sep 2026)</a:t>
            </a:r>
          </a:p>
          <a:p>
            <a:pPr>
              <a:spcAft>
                <a:spcPts val="400"/>
              </a:spcAft>
            </a:pPr>
            <a:r>
              <a:rPr b="1" sz="1000">
                <a:solidFill>
                  <a:srgbClr val="F8FAFC"/>
                </a:solidFill>
                <a:latin typeface="Calibri"/>
              </a:rPr>
              <a:t>Liquid Funds (SARIMAX for h=1..3): </a:t>
            </a:r>
            <a:r>
              <a:rPr sz="950">
                <a:solidFill>
                  <a:srgbClr val="CBD5E1"/>
                </a:solidFill>
                <a:latin typeface="Calibri"/>
              </a:rPr>
              <a:t>Oct 2026: +₹75,820.52 Cr (rebound) -&gt; Nov 2026: -₹8,979.98 Cr -&gt; Dec 2026: -₹50,618.62 Cr (corporate tax drainage, lower 80% bound: -₹89,235.07 Cr).</a:t>
            </a:r>
          </a:p>
          <a:p>
            <a:pPr>
              <a:spcAft>
                <a:spcPts val="200"/>
              </a:spcAft>
            </a:pPr>
            <a:r>
              <a:rPr b="1" sz="1000">
                <a:solidFill>
                  <a:srgbClr val="F8FAFC"/>
                </a:solidFill>
                <a:latin typeface="Calibri"/>
              </a:rPr>
              <a:t>Overnight Funds (SARIMAX 1M / S-Naive 2M,3M): </a:t>
            </a:r>
            <a:r>
              <a:rPr sz="950">
                <a:solidFill>
                  <a:srgbClr val="CBD5E1"/>
                </a:solidFill>
                <a:latin typeface="Calibri"/>
              </a:rPr>
              <a:t>Oct 2026: +₹16,981.99 Cr (SARIMAX) -&gt; Nov 2026: -₹37,624.53 Cr (S-Naive persistence of Nov 2025 outlier) -&gt; Dec 2026: +₹254.25 Cr (S-Naive).</a:t>
            </a:r>
          </a:p>
        </p:txBody>
      </p:sp>
      <p:sp>
        <p:nvSpPr>
          <p:cNvPr id="11" name="Rectangle 10"/>
          <p:cNvSpPr/>
          <p:nvPr/>
        </p:nvSpPr>
        <p:spPr>
          <a:xfrm>
            <a:off x="731520" y="626364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327648"/>
            <a:ext cx="5303520" cy="320040"/>
          </a:xfrm>
          <a:prstGeom prst="rect">
            <a:avLst/>
          </a:prstGeom>
          <a:noFill/>
        </p:spPr>
        <p:txBody>
          <a:bodyPr wrap="none" lIns="0" rIns="0" tIns="0" bIns="0">
            <a:spAutoFit/>
          </a:bodyPr>
          <a:lstStyle/>
          <a:p>
            <a:pPr>
              <a:defRPr sz="900">
                <a:solidFill>
                  <a:srgbClr val="94A3B8"/>
                </a:solidFill>
                <a:latin typeface="Calibri"/>
              </a:defRPr>
            </a:pPr>
            <a:r>
              <a:t>FINHYPE | Zeckathon 2026 · Problem Statement 3 | Origin: Sep 2026 · Target: Oct–Dec 2026</a:t>
            </a:r>
          </a:p>
        </p:txBody>
      </p:sp>
      <p:sp>
        <p:nvSpPr>
          <p:cNvPr id="13" name="TextBox 12"/>
          <p:cNvSpPr txBox="1"/>
          <p:nvPr/>
        </p:nvSpPr>
        <p:spPr>
          <a:xfrm>
            <a:off x="6035040" y="6327648"/>
            <a:ext cx="4846320" cy="320040"/>
          </a:xfrm>
          <a:prstGeom prst="rect">
            <a:avLst/>
          </a:prstGeom>
          <a:noFill/>
        </p:spPr>
        <p:txBody>
          <a:bodyPr wrap="none" lIns="0" rIns="0" tIns="0" bIns="0">
            <a:spAutoFit/>
          </a:bodyPr>
          <a:lstStyle/>
          <a:p>
            <a:pPr algn="r">
              <a:defRPr sz="850" i="1">
                <a:solidFill>
                  <a:srgbClr val="94A3B8"/>
                </a:solidFill>
                <a:latin typeface="Calibri"/>
              </a:defRPr>
            </a:pPr>
            <a:r>
              <a:t>Source: data/processed/backtest_metrics_summary.csv (Full 32-series evaluation); forward_forecasts_3m.csv</a:t>
            </a:r>
          </a:p>
        </p:txBody>
      </p:sp>
      <p:sp>
        <p:nvSpPr>
          <p:cNvPr id="14" name="TextBox 13"/>
          <p:cNvSpPr txBox="1"/>
          <p:nvPr/>
        </p:nvSpPr>
        <p:spPr>
          <a:xfrm>
            <a:off x="10972800" y="6327648"/>
            <a:ext cx="487375" cy="320040"/>
          </a:xfrm>
          <a:prstGeom prst="rect">
            <a:avLst/>
          </a:prstGeom>
          <a:noFill/>
        </p:spPr>
        <p:txBody>
          <a:bodyPr wrap="none" lIns="0" rIns="0" tIns="0" bIns="0">
            <a:spAutoFit/>
          </a:bodyPr>
          <a:lstStyle/>
          <a:p>
            <a:pPr algn="r">
              <a:defRPr sz="950" b="1">
                <a:solidFill>
                  <a:srgbClr val="60A5FA"/>
                </a:solidFill>
                <a:latin typeface="Calibri"/>
              </a:defRPr>
            </a:pPr>
            <a:r>
              <a:t>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92608"/>
          </a:xfrm>
          <a:prstGeom prst="rect">
            <a:avLst/>
          </a:prstGeom>
          <a:noFill/>
        </p:spPr>
        <p:txBody>
          <a:bodyPr wrap="square" lIns="0" rIns="0" tIns="0" bIns="0">
            <a:spAutoFit/>
          </a:bodyPr>
          <a:lstStyle/>
          <a:p>
            <a:pPr>
              <a:defRPr sz="1050" b="1">
                <a:solidFill>
                  <a:srgbClr val="38BDF8"/>
                </a:solidFill>
                <a:latin typeface="Calibri"/>
              </a:defRPr>
            </a:pPr>
            <a:r>
              <a:t>CASH BUFFER ENGINE</a:t>
            </a:r>
          </a:p>
        </p:txBody>
      </p:sp>
      <p:sp>
        <p:nvSpPr>
          <p:cNvPr id="4" name="TextBox 3"/>
          <p:cNvSpPr txBox="1"/>
          <p:nvPr/>
        </p:nvSpPr>
        <p:spPr>
          <a:xfrm>
            <a:off x="731520" y="621792"/>
            <a:ext cx="10728655" cy="502920"/>
          </a:xfrm>
          <a:prstGeom prst="rect">
            <a:avLst/>
          </a:prstGeom>
          <a:noFill/>
        </p:spPr>
        <p:txBody>
          <a:bodyPr wrap="square" lIns="0" rIns="0" tIns="0" bIns="0">
            <a:spAutoFit/>
          </a:bodyPr>
          <a:lstStyle/>
          <a:p>
            <a:pPr>
              <a:defRPr sz="2200" b="1">
                <a:solidFill>
                  <a:srgbClr val="F8FAFC"/>
                </a:solidFill>
                <a:latin typeface="Calibri"/>
              </a:defRPr>
            </a:pPr>
            <a:r>
              <a:t>Dynamic Cash Buffer Engine &amp; Dual Overnight Policies</a:t>
            </a:r>
          </a:p>
        </p:txBody>
      </p:sp>
      <p:sp>
        <p:nvSpPr>
          <p:cNvPr id="5" name="Rectangle 4"/>
          <p:cNvSpPr/>
          <p:nvPr/>
        </p:nvSpPr>
        <p:spPr>
          <a:xfrm>
            <a:off x="731520" y="118872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728655" cy="1005840"/>
          </a:xfrm>
          <a:prstGeom prst="roundRect">
            <a:avLst/>
          </a:prstGeom>
          <a:solidFill>
            <a:srgbClr val="1E293B"/>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389888"/>
            <a:ext cx="10271455" cy="868680"/>
          </a:xfrm>
          <a:prstGeom prst="rect">
            <a:avLst/>
          </a:prstGeom>
          <a:noFill/>
        </p:spPr>
        <p:txBody>
          <a:bodyPr wrap="square">
            <a:spAutoFit/>
          </a:bodyPr>
          <a:lstStyle/>
          <a:p>
            <a:pPr>
              <a:spcAft>
                <a:spcPts val="300"/>
              </a:spcAft>
              <a:defRPr sz="1400" b="1">
                <a:solidFill>
                  <a:srgbClr val="38BDF8"/>
                </a:solidFill>
                <a:latin typeface="Calibri"/>
              </a:defRPr>
            </a:pPr>
            <a:r>
              <a:t>Sizing Formula:  Recommended Buffer = max(Base Operational Floor,  Peak Cumulative Downside Deficit)</a:t>
            </a:r>
          </a:p>
          <a:p>
            <a:pPr>
              <a:defRPr sz="1100">
                <a:solidFill>
                  <a:srgbClr val="CBD5E1"/>
                </a:solidFill>
                <a:latin typeface="Calibri"/>
              </a:defRPr>
            </a:pPr>
            <a:r>
              <a:t>Non-Monotonic Preservation: Peak Deficit = max_{k=1..h} [max(0, -Sum_{j=1..k} L_hat_{T+j})]. Early liquidity shortfalls cannot be masked or erased by later projected cash inflows.</a:t>
            </a:r>
          </a:p>
        </p:txBody>
      </p:sp>
      <p:sp>
        <p:nvSpPr>
          <p:cNvPr id="8" name="Rounded Rectangle 7"/>
          <p:cNvSpPr/>
          <p:nvPr/>
        </p:nvSpPr>
        <p:spPr>
          <a:xfrm>
            <a:off x="731520" y="2468880"/>
            <a:ext cx="5212080" cy="3611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606040"/>
            <a:ext cx="4754880" cy="3337560"/>
          </a:xfrm>
          <a:prstGeom prst="rect">
            <a:avLst/>
          </a:prstGeom>
          <a:noFill/>
        </p:spPr>
        <p:txBody>
          <a:bodyPr wrap="square">
            <a:spAutoFit/>
          </a:bodyPr>
          <a:lstStyle/>
          <a:p>
            <a:pPr>
              <a:spcAft>
                <a:spcPts val="1000"/>
              </a:spcAft>
              <a:defRPr sz="1400" b="1">
                <a:solidFill>
                  <a:srgbClr val="60A5FA"/>
                </a:solidFill>
                <a:latin typeface="Calibri"/>
              </a:defRPr>
            </a:pPr>
            <a:r>
              <a:t>Liquid Fund Buffer (AUM: ₹6,25,847 Cr | SARIMAX)</a:t>
            </a:r>
          </a:p>
          <a:p>
            <a:pPr>
              <a:spcAft>
                <a:spcPts val="800"/>
              </a:spcAft>
            </a:pPr>
            <a:r>
              <a:rPr b="1" sz="1200">
                <a:solidFill>
                  <a:srgbClr val="F8FAFC"/>
                </a:solidFill>
                <a:latin typeface="Calibri"/>
              </a:rPr>
              <a:t>1-Month (Oct 2026): </a:t>
            </a:r>
            <a:r>
              <a:rPr sz="1100">
                <a:solidFill>
                  <a:srgbClr val="CBD5E1"/>
                </a:solidFill>
                <a:latin typeface="Calibri"/>
              </a:rPr>
              <a:t>Buffer: ₹31,292.35 Cr (5.00% AUM). Point forecast is +₹75,821 Cr, downside deficit is ₹0; governed entirely by base operational floor.</a:t>
            </a:r>
          </a:p>
          <a:p>
            <a:pPr>
              <a:spcAft>
                <a:spcPts val="800"/>
              </a:spcAft>
            </a:pPr>
            <a:r>
              <a:rPr b="1" sz="1200">
                <a:solidFill>
                  <a:srgbClr val="F8FAFC"/>
                </a:solidFill>
                <a:latin typeface="Calibri"/>
              </a:rPr>
              <a:t>2-Month (Oct–Nov 2026): </a:t>
            </a:r>
            <a:r>
              <a:rPr sz="1100">
                <a:solidFill>
                  <a:srgbClr val="CBD5E1"/>
                </a:solidFill>
                <a:latin typeface="Calibri"/>
              </a:rPr>
              <a:t>Buffer: ₹31,292.35 Cr (5.00% AUM). Cumulative downside remains positive (+₹14,162 Cr); governed by operational floor.</a:t>
            </a:r>
          </a:p>
          <a:p>
            <a:pPr>
              <a:spcAft>
                <a:spcPts val="800"/>
              </a:spcAft>
            </a:pPr>
            <a:r>
              <a:rPr b="1" sz="1200">
                <a:solidFill>
                  <a:srgbClr val="F8FAFC"/>
                </a:solidFill>
                <a:latin typeface="Calibri"/>
              </a:rPr>
              <a:t>3-Month Moderate (80%): </a:t>
            </a:r>
            <a:r>
              <a:rPr sz="1100">
                <a:solidFill>
                  <a:srgbClr val="FBBF24"/>
                </a:solidFill>
                <a:latin typeface="Calibri"/>
              </a:rPr>
              <a:t>Buffer: ₹75,072.74 Cr (12.00% AUM). Cumulative downside deficit expands to ₹75,073 Cr ahead of December corporate advance-tax drainage.</a:t>
            </a:r>
          </a:p>
          <a:p>
            <a:pPr>
              <a:spcAft>
                <a:spcPts val="400"/>
              </a:spcAft>
            </a:pPr>
            <a:r>
              <a:rPr b="1" sz="1200">
                <a:solidFill>
                  <a:srgbClr val="F8FAFC"/>
                </a:solidFill>
                <a:latin typeface="Calibri"/>
              </a:rPr>
              <a:t>3-Month Conservative (95%): </a:t>
            </a:r>
            <a:r>
              <a:rPr sz="1100">
                <a:solidFill>
                  <a:srgbClr val="F87171"/>
                </a:solidFill>
                <a:latin typeface="Calibri"/>
              </a:rPr>
              <a:t>Buffer: ₹106,161.75 Cr (16.96% AUM). Sized to absorb severe 2.5th percentile downside tax drain (-₹94,506 Cr bound).</a:t>
            </a:r>
          </a:p>
        </p:txBody>
      </p:sp>
      <p:sp>
        <p:nvSpPr>
          <p:cNvPr id="10" name="Rounded Rectangle 9"/>
          <p:cNvSpPr/>
          <p:nvPr/>
        </p:nvSpPr>
        <p:spPr>
          <a:xfrm>
            <a:off x="6248095" y="2468880"/>
            <a:ext cx="5212080" cy="3611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6695" y="2606040"/>
            <a:ext cx="4754880" cy="3337560"/>
          </a:xfrm>
          <a:prstGeom prst="rect">
            <a:avLst/>
          </a:prstGeom>
          <a:noFill/>
        </p:spPr>
        <p:txBody>
          <a:bodyPr wrap="square">
            <a:spAutoFit/>
          </a:bodyPr>
          <a:lstStyle/>
          <a:p>
            <a:pPr>
              <a:spcAft>
                <a:spcPts val="1000"/>
              </a:spcAft>
              <a:defRPr sz="1400" b="1">
                <a:solidFill>
                  <a:srgbClr val="34D399"/>
                </a:solidFill>
                <a:latin typeface="Calibri"/>
              </a:defRPr>
            </a:pPr>
            <a:r>
              <a:t>Overnight Fund Buffer (AUM: ₹84,033 Cr | Dual Policies)</a:t>
            </a:r>
          </a:p>
          <a:p>
            <a:pPr>
              <a:spcAft>
                <a:spcPts val="800"/>
              </a:spcAft>
            </a:pPr>
            <a:r>
              <a:rPr b="1" sz="1200">
                <a:solidFill>
                  <a:srgbClr val="F8FAFC"/>
                </a:solidFill>
                <a:latin typeface="Calibri"/>
              </a:rPr>
              <a:t>1-Month Standalone (SARIMAX): </a:t>
            </a:r>
            <a:r>
              <a:rPr sz="1100">
                <a:solidFill>
                  <a:srgbClr val="CBD5E1"/>
                </a:solidFill>
                <a:latin typeface="Calibri"/>
              </a:rPr>
              <a:t>Moderate (80%): ₹10,366.04 Cr (12.34% AUM) | Conservative (95%): ₹17,606.86 Cr (20.95% AUM). Sized to absorb 1M turnover.</a:t>
            </a:r>
          </a:p>
          <a:p>
            <a:pPr>
              <a:spcAft>
                <a:spcPts val="800"/>
              </a:spcAft>
            </a:pPr>
            <a:r>
              <a:rPr b="1" sz="1200">
                <a:solidFill>
                  <a:srgbClr val="F8FAFC"/>
                </a:solidFill>
                <a:latin typeface="Calibri"/>
              </a:rPr>
              <a:t>3-Month Single Baseline (S-Naive): </a:t>
            </a:r>
            <a:r>
              <a:rPr sz="1100">
                <a:solidFill>
                  <a:srgbClr val="CBD5E1"/>
                </a:solidFill>
                <a:latin typeface="Calibri"/>
              </a:rPr>
              <a:t>Moderate: ₹74,130.35 Cr (88.22% AUM) | Conservative: ₹118,049.89 Cr (140.48% AUM). Replicates Nov 2025 outlier (-₹37,625 Cr).</a:t>
            </a:r>
          </a:p>
          <a:p>
            <a:pPr>
              <a:spcAft>
                <a:spcPts val="800"/>
              </a:spcAft>
            </a:pPr>
            <a:r>
              <a:rPr b="1" sz="1200">
                <a:solidFill>
                  <a:srgbClr val="F8FAFC"/>
                </a:solidFill>
                <a:latin typeface="Calibri"/>
              </a:rPr>
              <a:t>3-Month Stitched (SARIMAX+S-Naive): </a:t>
            </a:r>
            <a:r>
              <a:rPr sz="1100">
                <a:solidFill>
                  <a:srgbClr val="CBD5E1"/>
                </a:solidFill>
                <a:latin typeface="Calibri"/>
              </a:rPr>
              <a:t>Moderate: ₹90,640.30 Cr (107.86% AUM) | Conservative: ₹129,620.28 Cr (154.25% AUM). Matches empirical champion at each step.</a:t>
            </a:r>
          </a:p>
          <a:p>
            <a:pPr>
              <a:spcAft>
                <a:spcPts val="400"/>
              </a:spcAft>
            </a:pPr>
            <a:r>
              <a:rPr b="1" sz="1200">
                <a:solidFill>
                  <a:srgbClr val="F8FAFC"/>
                </a:solidFill>
                <a:latin typeface="Calibri"/>
              </a:rPr>
              <a:t>Why Buffer Exceeds 100% of AUM: </a:t>
            </a:r>
            <a:r>
              <a:rPr sz="1100">
                <a:solidFill>
                  <a:srgbClr val="38BDF8"/>
                </a:solidFill>
                <a:latin typeface="Calibri"/>
              </a:rPr>
              <a:t>Overnight monthly gross turnover exceeds 540% of AUM. Comonotonic compounding of Nov 2025 outlier models extreme gross redemption distress, preserved transparently without artificial caps.</a:t>
            </a:r>
          </a:p>
        </p:txBody>
      </p:sp>
      <p:sp>
        <p:nvSpPr>
          <p:cNvPr id="12" name="Rectangle 11"/>
          <p:cNvSpPr/>
          <p:nvPr/>
        </p:nvSpPr>
        <p:spPr>
          <a:xfrm>
            <a:off x="731520" y="626364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327648"/>
            <a:ext cx="5303520" cy="320040"/>
          </a:xfrm>
          <a:prstGeom prst="rect">
            <a:avLst/>
          </a:prstGeom>
          <a:noFill/>
        </p:spPr>
        <p:txBody>
          <a:bodyPr wrap="none" lIns="0" rIns="0" tIns="0" bIns="0">
            <a:spAutoFit/>
          </a:bodyPr>
          <a:lstStyle/>
          <a:p>
            <a:pPr>
              <a:defRPr sz="900">
                <a:solidFill>
                  <a:srgbClr val="94A3B8"/>
                </a:solidFill>
                <a:latin typeface="Calibri"/>
              </a:defRPr>
            </a:pPr>
            <a:r>
              <a:t>FINHYPE | Zeckathon 2026 · Problem Statement 3 | Origin: Sep 2026 · Target: Oct–Dec 2026</a:t>
            </a:r>
          </a:p>
        </p:txBody>
      </p:sp>
      <p:sp>
        <p:nvSpPr>
          <p:cNvPr id="14" name="TextBox 13"/>
          <p:cNvSpPr txBox="1"/>
          <p:nvPr/>
        </p:nvSpPr>
        <p:spPr>
          <a:xfrm>
            <a:off x="6035040" y="6327648"/>
            <a:ext cx="4846320" cy="320040"/>
          </a:xfrm>
          <a:prstGeom prst="rect">
            <a:avLst/>
          </a:prstGeom>
          <a:noFill/>
        </p:spPr>
        <p:txBody>
          <a:bodyPr wrap="none" lIns="0" rIns="0" tIns="0" bIns="0">
            <a:spAutoFit/>
          </a:bodyPr>
          <a:lstStyle/>
          <a:p>
            <a:pPr algn="r">
              <a:defRPr sz="850" i="1">
                <a:solidFill>
                  <a:srgbClr val="94A3B8"/>
                </a:solidFill>
                <a:latin typeface="Calibri"/>
              </a:defRPr>
            </a:pPr>
            <a:r>
              <a:t>Source: app/services/cash_buffer.py, app/services/forward_forecasting.py; Origin: September 2026</a:t>
            </a:r>
          </a:p>
        </p:txBody>
      </p:sp>
      <p:sp>
        <p:nvSpPr>
          <p:cNvPr id="15" name="TextBox 14"/>
          <p:cNvSpPr txBox="1"/>
          <p:nvPr/>
        </p:nvSpPr>
        <p:spPr>
          <a:xfrm>
            <a:off x="10972800" y="6327648"/>
            <a:ext cx="487375" cy="320040"/>
          </a:xfrm>
          <a:prstGeom prst="rect">
            <a:avLst/>
          </a:prstGeom>
          <a:noFill/>
        </p:spPr>
        <p:txBody>
          <a:bodyPr wrap="none" lIns="0" rIns="0" tIns="0" bIns="0">
            <a:spAutoFit/>
          </a:bodyPr>
          <a:lstStyle/>
          <a:p>
            <a:pPr algn="r">
              <a:defRPr sz="950" b="1">
                <a:solidFill>
                  <a:srgbClr val="60A5FA"/>
                </a:solidFill>
                <a:latin typeface="Calibri"/>
              </a:defRPr>
            </a:pPr>
            <a:r>
              <a:t>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92608"/>
          </a:xfrm>
          <a:prstGeom prst="rect">
            <a:avLst/>
          </a:prstGeom>
          <a:noFill/>
        </p:spPr>
        <p:txBody>
          <a:bodyPr wrap="square" lIns="0" rIns="0" tIns="0" bIns="0">
            <a:spAutoFit/>
          </a:bodyPr>
          <a:lstStyle/>
          <a:p>
            <a:pPr>
              <a:defRPr sz="1050" b="1">
                <a:solidFill>
                  <a:srgbClr val="38BDF8"/>
                </a:solidFill>
                <a:latin typeface="Calibri"/>
              </a:defRPr>
            </a:pPr>
            <a:r>
              <a:t>DASHBOARD DEMONSTRATION</a:t>
            </a:r>
          </a:p>
        </p:txBody>
      </p:sp>
      <p:sp>
        <p:nvSpPr>
          <p:cNvPr id="4" name="TextBox 3"/>
          <p:cNvSpPr txBox="1"/>
          <p:nvPr/>
        </p:nvSpPr>
        <p:spPr>
          <a:xfrm>
            <a:off x="731520" y="621792"/>
            <a:ext cx="10728655" cy="502920"/>
          </a:xfrm>
          <a:prstGeom prst="rect">
            <a:avLst/>
          </a:prstGeom>
          <a:noFill/>
        </p:spPr>
        <p:txBody>
          <a:bodyPr wrap="square" lIns="0" rIns="0" tIns="0" bIns="0">
            <a:spAutoFit/>
          </a:bodyPr>
          <a:lstStyle/>
          <a:p>
            <a:pPr>
              <a:defRPr sz="2200" b="1">
                <a:solidFill>
                  <a:srgbClr val="F8FAFC"/>
                </a:solidFill>
                <a:latin typeface="Calibri"/>
              </a:defRPr>
            </a:pPr>
            <a:r>
              <a:t>Interactive Streamlit Platform: Decision Support Architecture</a:t>
            </a:r>
          </a:p>
        </p:txBody>
      </p:sp>
      <p:sp>
        <p:nvSpPr>
          <p:cNvPr id="5" name="Rectangle 4"/>
          <p:cNvSpPr/>
          <p:nvPr/>
        </p:nvSpPr>
        <p:spPr>
          <a:xfrm>
            <a:off x="731520" y="118872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728655" cy="594360"/>
          </a:xfrm>
          <a:prstGeom prst="roundRect">
            <a:avLst/>
          </a:prstGeom>
          <a:solidFill>
            <a:srgbClr val="28354C"/>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89888"/>
            <a:ext cx="10454335" cy="457200"/>
          </a:xfrm>
          <a:prstGeom prst="rect">
            <a:avLst/>
          </a:prstGeom>
          <a:noFill/>
        </p:spPr>
        <p:txBody>
          <a:bodyPr wrap="none">
            <a:spAutoFit/>
          </a:bodyPr>
          <a:lstStyle/>
          <a:p>
            <a:pPr>
              <a:defRPr sz="1100" b="1">
                <a:solidFill>
                  <a:srgbClr val="38BDF8"/>
                </a:solidFill>
                <a:latin typeface="Calibri"/>
              </a:defRPr>
            </a:pPr>
            <a:r>
              <a:t>TABS:  1. Exec Summary   |   2. Historical &amp; AUM   |   3. Forward Forecasts [Active]   |   4. Buffer Sizing   |   5. Model Benchmark   |   6. Governance</a:t>
            </a:r>
          </a:p>
        </p:txBody>
      </p:sp>
      <p:sp>
        <p:nvSpPr>
          <p:cNvPr id="8" name="Rounded Rectangle 7"/>
          <p:cNvSpPr/>
          <p:nvPr/>
        </p:nvSpPr>
        <p:spPr>
          <a:xfrm>
            <a:off x="731520" y="2057400"/>
            <a:ext cx="5212080" cy="3886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194560"/>
            <a:ext cx="4809744" cy="3611880"/>
          </a:xfrm>
          <a:prstGeom prst="rect">
            <a:avLst/>
          </a:prstGeom>
          <a:noFill/>
        </p:spPr>
        <p:txBody>
          <a:bodyPr wrap="square">
            <a:spAutoFit/>
          </a:bodyPr>
          <a:lstStyle/>
          <a:p>
            <a:pPr>
              <a:spcAft>
                <a:spcPts val="1000"/>
              </a:spcAft>
              <a:defRPr sz="1400" b="1">
                <a:solidFill>
                  <a:srgbClr val="38BDF8"/>
                </a:solidFill>
                <a:latin typeface="Calibri"/>
              </a:defRPr>
            </a:pPr>
            <a:r>
              <a:t>Tab 3: Forward Forecasts Architecture</a:t>
            </a:r>
          </a:p>
          <a:p>
            <a:pPr>
              <a:spcAft>
                <a:spcPts val="1000"/>
              </a:spcAft>
            </a:pPr>
            <a:r>
              <a:rPr b="1" sz="1200">
                <a:solidFill>
                  <a:srgbClr val="F8FAFC"/>
                </a:solidFill>
                <a:latin typeface="Calibri"/>
              </a:rPr>
              <a:t>Active Policy Trajectory Selector: </a:t>
            </a:r>
            <a:r>
              <a:rPr sz="1100">
                <a:solidFill>
                  <a:srgbClr val="CBD5E1"/>
                </a:solidFill>
                <a:latin typeface="Calibri"/>
              </a:rPr>
              <a:t>Default dropdown option directly reflects the exact model sequence deployed in Tab 4's cash buffer engine, ensuring complete cross-tab parity.</a:t>
            </a:r>
          </a:p>
          <a:p>
            <a:pPr>
              <a:spcAft>
                <a:spcPts val="1000"/>
              </a:spcAft>
            </a:pPr>
            <a:r>
              <a:rPr b="1" sz="1200">
                <a:solidFill>
                  <a:srgbClr val="F8FAFC"/>
                </a:solidFill>
                <a:latin typeface="Calibri"/>
              </a:rPr>
              <a:t>Standalone Model Exploration: </a:t>
            </a:r>
            <a:r>
              <a:rPr sz="1100">
                <a:solidFill>
                  <a:srgbClr val="CBD5E1"/>
                </a:solidFill>
                <a:latin typeface="Calibri"/>
              </a:rPr>
              <a:t>Selecting candidate models (SARIMAX, S-Naive, ETS, Ridge) renders pure unconstrained trajectories with contextual notice banners.</a:t>
            </a:r>
          </a:p>
          <a:p>
            <a:pPr>
              <a:spcAft>
                <a:spcPts val="600"/>
              </a:spcAft>
            </a:pPr>
            <a:r>
              <a:rPr b="1" sz="1200">
                <a:solidFill>
                  <a:srgbClr val="F8FAFC"/>
                </a:solidFill>
                <a:latin typeface="Calibri"/>
              </a:rPr>
              <a:t>Responsive 3-View Sub-Tabs: </a:t>
            </a:r>
            <a:r>
              <a:rPr sz="1100">
                <a:solidFill>
                  <a:srgbClr val="CBD5E1"/>
                </a:solidFill>
                <a:latin typeface="Calibri"/>
              </a:rPr>
              <a:t>Structured sub-tabs (Complete Summary, Moderate 80%, Conservative 95%) prevent horizontal clipping on 1280px laptop screens.</a:t>
            </a:r>
          </a:p>
        </p:txBody>
      </p:sp>
      <p:sp>
        <p:nvSpPr>
          <p:cNvPr id="10" name="Rounded Rectangle 9"/>
          <p:cNvSpPr/>
          <p:nvPr/>
        </p:nvSpPr>
        <p:spPr>
          <a:xfrm>
            <a:off x="6248095" y="2057400"/>
            <a:ext cx="5212080" cy="38862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9263" y="2194560"/>
            <a:ext cx="4809744" cy="3611880"/>
          </a:xfrm>
          <a:prstGeom prst="rect">
            <a:avLst/>
          </a:prstGeom>
          <a:noFill/>
        </p:spPr>
        <p:txBody>
          <a:bodyPr wrap="square">
            <a:spAutoFit/>
          </a:bodyPr>
          <a:lstStyle/>
          <a:p>
            <a:pPr>
              <a:spcAft>
                <a:spcPts val="1000"/>
              </a:spcAft>
              <a:defRPr sz="1400" b="1">
                <a:solidFill>
                  <a:srgbClr val="34D399"/>
                </a:solidFill>
                <a:latin typeface="Calibri"/>
              </a:defRPr>
            </a:pPr>
            <a:r>
              <a:t>Tab 4: Treasury Buffer Controls</a:t>
            </a:r>
          </a:p>
          <a:p>
            <a:pPr>
              <a:spcAft>
                <a:spcPts val="1000"/>
              </a:spcAft>
            </a:pPr>
            <a:r>
              <a:rPr b="1" sz="1200">
                <a:solidFill>
                  <a:srgbClr val="F8FAFC"/>
                </a:solidFill>
                <a:latin typeface="Calibri"/>
              </a:rPr>
              <a:t>Real-Time Treasury Controls: </a:t>
            </a:r>
            <a:r>
              <a:rPr sz="1100">
                <a:solidFill>
                  <a:srgbClr val="CBD5E1"/>
                </a:solidFill>
                <a:latin typeface="Calibri"/>
              </a:rPr>
              <a:t>Interactive sliders for Base Operational Floor %, Planning Horizon (1M-3M), and Risk Tolerance (Moderate 80% vs Conservative 95%).</a:t>
            </a:r>
          </a:p>
          <a:p>
            <a:pPr>
              <a:spcAft>
                <a:spcPts val="1000"/>
              </a:spcAft>
            </a:pPr>
            <a:r>
              <a:rPr b="1" sz="1200">
                <a:solidFill>
                  <a:srgbClr val="F8FAFC"/>
                </a:solidFill>
                <a:latin typeface="Calibri"/>
              </a:rPr>
              <a:t>Deficit Progression Audit Table: </a:t>
            </a:r>
            <a:r>
              <a:rPr sz="1100">
                <a:solidFill>
                  <a:srgbClr val="CBD5E1"/>
                </a:solidFill>
                <a:latin typeface="Calibri"/>
              </a:rPr>
              <a:t>Step-by-step table explicitly details Target Month, Model, Point Forecast, Downside Bound, and Cumulative Deficit.</a:t>
            </a:r>
          </a:p>
          <a:p>
            <a:pPr>
              <a:spcAft>
                <a:spcPts val="600"/>
              </a:spcAft>
            </a:pPr>
            <a:r>
              <a:rPr b="1" sz="1200">
                <a:solidFill>
                  <a:srgbClr val="F8FAFC"/>
                </a:solidFill>
                <a:latin typeface="Calibri"/>
              </a:rPr>
              <a:t>Policy Comparison Expander: </a:t>
            </a:r>
            <a:r>
              <a:rPr sz="1100">
                <a:solidFill>
                  <a:srgbClr val="CBD5E1"/>
                </a:solidFill>
                <a:latin typeface="Calibri"/>
              </a:rPr>
              <a:t>Live side-by-side comparison of Overnight Single-Model Baseline vs. Step-Wise Stitched Alternative.</a:t>
            </a:r>
          </a:p>
        </p:txBody>
      </p:sp>
      <p:sp>
        <p:nvSpPr>
          <p:cNvPr id="12" name="Rounded Rectangle 11"/>
          <p:cNvSpPr/>
          <p:nvPr/>
        </p:nvSpPr>
        <p:spPr>
          <a:xfrm>
            <a:off x="731520" y="5486400"/>
            <a:ext cx="10728655" cy="5943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559552"/>
            <a:ext cx="10271455" cy="438912"/>
          </a:xfrm>
          <a:prstGeom prst="rect">
            <a:avLst/>
          </a:prstGeom>
          <a:noFill/>
        </p:spPr>
        <p:txBody>
          <a:bodyPr wrap="none">
            <a:spAutoFit/>
          </a:bodyPr>
          <a:lstStyle/>
          <a:p>
            <a:pPr>
              <a:defRPr sz="1100" b="1">
                <a:solidFill>
                  <a:srgbClr val="38BDF8"/>
                </a:solidFill>
                <a:latin typeface="Calibri"/>
              </a:defRPr>
            </a:pPr>
            <a:r>
              <a:t>One-Command Launch:  .\run.ps1 -OnlyDashboard  (PowerShell)  |  .\run.bat --only-dashboard  (CMD)  |  Instant Cache Startup &lt; 1.0s</a:t>
            </a:r>
          </a:p>
        </p:txBody>
      </p:sp>
      <p:sp>
        <p:nvSpPr>
          <p:cNvPr id="14" name="Rectangle 13"/>
          <p:cNvSpPr/>
          <p:nvPr/>
        </p:nvSpPr>
        <p:spPr>
          <a:xfrm>
            <a:off x="731520" y="626364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327648"/>
            <a:ext cx="5303520" cy="320040"/>
          </a:xfrm>
          <a:prstGeom prst="rect">
            <a:avLst/>
          </a:prstGeom>
          <a:noFill/>
        </p:spPr>
        <p:txBody>
          <a:bodyPr wrap="none" lIns="0" rIns="0" tIns="0" bIns="0">
            <a:spAutoFit/>
          </a:bodyPr>
          <a:lstStyle/>
          <a:p>
            <a:pPr>
              <a:defRPr sz="900">
                <a:solidFill>
                  <a:srgbClr val="94A3B8"/>
                </a:solidFill>
                <a:latin typeface="Calibri"/>
              </a:defRPr>
            </a:pPr>
            <a:r>
              <a:t>FINHYPE | Zeckathon 2026 · Problem Statement 3 | Origin: Sep 2026 · Target: Oct–Dec 2026</a:t>
            </a:r>
          </a:p>
        </p:txBody>
      </p:sp>
      <p:sp>
        <p:nvSpPr>
          <p:cNvPr id="16" name="TextBox 15"/>
          <p:cNvSpPr txBox="1"/>
          <p:nvPr/>
        </p:nvSpPr>
        <p:spPr>
          <a:xfrm>
            <a:off x="6035040" y="6327648"/>
            <a:ext cx="4846320" cy="320040"/>
          </a:xfrm>
          <a:prstGeom prst="rect">
            <a:avLst/>
          </a:prstGeom>
          <a:noFill/>
        </p:spPr>
        <p:txBody>
          <a:bodyPr wrap="none" lIns="0" rIns="0" tIns="0" bIns="0">
            <a:spAutoFit/>
          </a:bodyPr>
          <a:lstStyle/>
          <a:p>
            <a:pPr algn="r">
              <a:defRPr sz="850" i="1">
                <a:solidFill>
                  <a:srgbClr val="94A3B8"/>
                </a:solidFill>
                <a:latin typeface="Calibri"/>
              </a:defRPr>
            </a:pPr>
            <a:r>
              <a:t>Source: app/dashboard.py; DEMO_GUIDE.md; Streamlit Web Platform (UI Schematic)</a:t>
            </a:r>
          </a:p>
        </p:txBody>
      </p:sp>
      <p:sp>
        <p:nvSpPr>
          <p:cNvPr id="17" name="TextBox 16"/>
          <p:cNvSpPr txBox="1"/>
          <p:nvPr/>
        </p:nvSpPr>
        <p:spPr>
          <a:xfrm>
            <a:off x="10972800" y="6327648"/>
            <a:ext cx="487375" cy="320040"/>
          </a:xfrm>
          <a:prstGeom prst="rect">
            <a:avLst/>
          </a:prstGeom>
          <a:noFill/>
        </p:spPr>
        <p:txBody>
          <a:bodyPr wrap="none" lIns="0" rIns="0" tIns="0" bIns="0">
            <a:spAutoFit/>
          </a:bodyPr>
          <a:lstStyle/>
          <a:p>
            <a:pPr algn="r">
              <a:defRPr sz="950" b="1">
                <a:solidFill>
                  <a:srgbClr val="60A5FA"/>
                </a:solidFill>
                <a:latin typeface="Calibri"/>
              </a:defRPr>
            </a:pPr>
            <a:r>
              <a:t>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47472"/>
            <a:ext cx="10728655" cy="292608"/>
          </a:xfrm>
          <a:prstGeom prst="rect">
            <a:avLst/>
          </a:prstGeom>
          <a:noFill/>
        </p:spPr>
        <p:txBody>
          <a:bodyPr wrap="square" lIns="0" rIns="0" tIns="0" bIns="0">
            <a:spAutoFit/>
          </a:bodyPr>
          <a:lstStyle/>
          <a:p>
            <a:pPr>
              <a:defRPr sz="1050" b="1">
                <a:solidFill>
                  <a:srgbClr val="38BDF8"/>
                </a:solidFill>
                <a:latin typeface="Calibri"/>
              </a:defRPr>
            </a:pPr>
            <a:r>
              <a:t>GOVERNANCE &amp; CONCLUSION</a:t>
            </a:r>
          </a:p>
        </p:txBody>
      </p:sp>
      <p:sp>
        <p:nvSpPr>
          <p:cNvPr id="4" name="TextBox 3"/>
          <p:cNvSpPr txBox="1"/>
          <p:nvPr/>
        </p:nvSpPr>
        <p:spPr>
          <a:xfrm>
            <a:off x="731520" y="621792"/>
            <a:ext cx="10728655" cy="502920"/>
          </a:xfrm>
          <a:prstGeom prst="rect">
            <a:avLst/>
          </a:prstGeom>
          <a:noFill/>
        </p:spPr>
        <p:txBody>
          <a:bodyPr wrap="square" lIns="0" rIns="0" tIns="0" bIns="0">
            <a:spAutoFit/>
          </a:bodyPr>
          <a:lstStyle/>
          <a:p>
            <a:pPr>
              <a:defRPr sz="2200" b="1">
                <a:solidFill>
                  <a:srgbClr val="F8FAFC"/>
                </a:solidFill>
                <a:latin typeface="Calibri"/>
              </a:defRPr>
            </a:pPr>
            <a:r>
              <a:t>Methodological Boundaries, Governance &amp; Production Conclusion</a:t>
            </a:r>
          </a:p>
        </p:txBody>
      </p:sp>
      <p:sp>
        <p:nvSpPr>
          <p:cNvPr id="5" name="Rectangle 4"/>
          <p:cNvSpPr/>
          <p:nvPr/>
        </p:nvSpPr>
        <p:spPr>
          <a:xfrm>
            <a:off x="731520" y="118872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212080" cy="4709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4754880" cy="4389120"/>
          </a:xfrm>
          <a:prstGeom prst="rect">
            <a:avLst/>
          </a:prstGeom>
          <a:noFill/>
        </p:spPr>
        <p:txBody>
          <a:bodyPr wrap="square">
            <a:spAutoFit/>
          </a:bodyPr>
          <a:lstStyle/>
          <a:p>
            <a:pPr>
              <a:spcAft>
                <a:spcPts val="1200"/>
              </a:spcAft>
              <a:defRPr sz="1400" b="1">
                <a:solidFill>
                  <a:srgbClr val="FBBF24"/>
                </a:solidFill>
                <a:latin typeface="Calibri"/>
              </a:defRPr>
            </a:pPr>
            <a:r>
              <a:t>Methodological Boundaries &amp; Disclosures</a:t>
            </a:r>
          </a:p>
          <a:p>
            <a:pPr>
              <a:spcAft>
                <a:spcPts val="1100"/>
              </a:spcAft>
            </a:pPr>
            <a:r>
              <a:rPr b="1" sz="1200">
                <a:solidFill>
                  <a:srgbClr val="F8FAFC"/>
                </a:solidFill>
                <a:latin typeface="Calibri"/>
              </a:rPr>
              <a:t>Comonotonic Stress Scenario: </a:t>
            </a:r>
            <a:r>
              <a:rPr sz="1100">
                <a:solidFill>
                  <a:srgbClr val="CBD5E1"/>
                </a:solidFill>
                <a:latin typeface="Calibri"/>
              </a:rPr>
              <a:t>Summing monthly downside bounds assumes perfect positive tail dependence (consecutive worst-case shocks). It is an advisory stress scenario, not a calibrated joint multi-period probability interval.</a:t>
            </a:r>
          </a:p>
          <a:p>
            <a:pPr>
              <a:spcAft>
                <a:spcPts val="1100"/>
              </a:spcAft>
            </a:pPr>
            <a:r>
              <a:rPr b="1" sz="1200">
                <a:solidFill>
                  <a:srgbClr val="F8FAFC"/>
                </a:solidFill>
                <a:latin typeface="Calibri"/>
              </a:rPr>
              <a:t>Sample Size Discreteness (N=24): </a:t>
            </a:r>
            <a:r>
              <a:rPr sz="1100">
                <a:solidFill>
                  <a:srgbClr val="CBD5E1"/>
                </a:solidFill>
                <a:latin typeface="Calibri"/>
              </a:rPr>
              <a:t>Evaluating 24 backtest origins limits statistical resolution; each observation is ~4.17% of the empirical distribution. Nominal 80%/95% levels are empirical calibration heuristics, not mathematical proofs.</a:t>
            </a:r>
          </a:p>
          <a:p>
            <a:pPr>
              <a:spcAft>
                <a:spcPts val="1100"/>
              </a:spcAft>
            </a:pPr>
            <a:r>
              <a:rPr b="1" sz="1200">
                <a:solidFill>
                  <a:srgbClr val="F8FAFC"/>
                </a:solidFill>
                <a:latin typeface="Calibri"/>
              </a:rPr>
              <a:t>Monthly Aggregation vs. Intraday Runs: </a:t>
            </a:r>
            <a:r>
              <a:rPr sz="1100">
                <a:solidFill>
                  <a:srgbClr val="CBD5E1"/>
                </a:solidFill>
                <a:latin typeface="Calibri"/>
              </a:rPr>
              <a:t>AMFI data is monthly aggregate. Intraday redemption spikes occurring on the 15th of tax months must be buffered via operational floors, sponsor lines, and repo credit facilities.</a:t>
            </a:r>
          </a:p>
          <a:p>
            <a:pPr>
              <a:spcAft>
                <a:spcPts val="400"/>
              </a:spcAft>
            </a:pPr>
            <a:r>
              <a:rPr b="1" sz="1200">
                <a:solidFill>
                  <a:srgbClr val="F8FAFC"/>
                </a:solidFill>
                <a:latin typeface="Calibri"/>
              </a:rPr>
              <a:t>Overnight Buffer &gt;100% Reality: </a:t>
            </a:r>
            <a:r>
              <a:rPr sz="1100">
                <a:solidFill>
                  <a:srgbClr val="38BDF8"/>
                </a:solidFill>
                <a:latin typeface="Calibri"/>
              </a:rPr>
              <a:t>Reflects acute comonotonic stress under 545% monthly turnover, not a claim that the fund literally holds that amount in physical cash.</a:t>
            </a:r>
          </a:p>
        </p:txBody>
      </p:sp>
      <p:sp>
        <p:nvSpPr>
          <p:cNvPr id="8" name="Rounded Rectangle 7"/>
          <p:cNvSpPr/>
          <p:nvPr/>
        </p:nvSpPr>
        <p:spPr>
          <a:xfrm>
            <a:off x="6248095" y="1371600"/>
            <a:ext cx="5212080" cy="47091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536192"/>
            <a:ext cx="4754880" cy="4389120"/>
          </a:xfrm>
          <a:prstGeom prst="rect">
            <a:avLst/>
          </a:prstGeom>
          <a:noFill/>
        </p:spPr>
        <p:txBody>
          <a:bodyPr wrap="square">
            <a:spAutoFit/>
          </a:bodyPr>
          <a:lstStyle/>
          <a:p>
            <a:pPr>
              <a:spcAft>
                <a:spcPts val="1200"/>
              </a:spcAft>
              <a:defRPr sz="1400" b="1">
                <a:solidFill>
                  <a:srgbClr val="34D399"/>
                </a:solidFill>
                <a:latin typeface="Calibri"/>
              </a:defRPr>
            </a:pPr>
            <a:r>
              <a:t>Production Roadmap &amp; Release Verdict</a:t>
            </a:r>
          </a:p>
          <a:p>
            <a:pPr>
              <a:spcAft>
                <a:spcPts val="1100"/>
              </a:spcAft>
            </a:pPr>
            <a:r>
              <a:rPr b="1" sz="1200">
                <a:solidFill>
                  <a:srgbClr val="F8FAFC"/>
                </a:solidFill>
                <a:latin typeface="Calibri"/>
              </a:rPr>
              <a:t>Roadmap 1: Vine Copula Dependencies: </a:t>
            </a:r>
            <a:r>
              <a:rPr sz="1100">
                <a:solidFill>
                  <a:srgbClr val="CBD5E1"/>
                </a:solidFill>
                <a:latin typeface="Calibri"/>
              </a:rPr>
              <a:t>Replace comonotonic summation with calibrated parametric or vine copulas to model non-linear inter-temporal dependence across multi-month planning horizons.</a:t>
            </a:r>
          </a:p>
          <a:p>
            <a:pPr>
              <a:spcAft>
                <a:spcPts val="1100"/>
              </a:spcAft>
            </a:pPr>
            <a:r>
              <a:rPr b="1" sz="1200">
                <a:solidFill>
                  <a:srgbClr val="F8FAFC"/>
                </a:solidFill>
                <a:latin typeface="Calibri"/>
              </a:rPr>
              <a:t>Roadmap 2: Daily Transaction Integration: </a:t>
            </a:r>
            <a:r>
              <a:rPr sz="1100">
                <a:solidFill>
                  <a:srgbClr val="CBD5E1"/>
                </a:solidFill>
                <a:latin typeface="Calibri"/>
              </a:rPr>
              <a:t>Connect ingestion pipeline to AMC transfer agency feeds (CAMS/KFintech) for intraday RTGS flow monitoring and tax calendar weighting.</a:t>
            </a:r>
          </a:p>
          <a:p>
            <a:pPr>
              <a:spcAft>
                <a:spcPts val="1100"/>
              </a:spcAft>
            </a:pPr>
            <a:r>
              <a:rPr b="1" sz="1200">
                <a:solidFill>
                  <a:srgbClr val="F8FAFC"/>
                </a:solidFill>
                <a:latin typeface="Calibri"/>
              </a:rPr>
              <a:t>Roadmap 3: Dynamic Macro Scenarios: </a:t>
            </a:r>
            <a:r>
              <a:rPr sz="1100">
                <a:solidFill>
                  <a:srgbClr val="CBD5E1"/>
                </a:solidFill>
                <a:latin typeface="Calibri"/>
              </a:rPr>
              <a:t>Incorporate live RBI MPC probability distributions and liquidity adjustment facility (LAF) balances for interactive rate-shock stress testing.</a:t>
            </a:r>
          </a:p>
          <a:p>
            <a:pPr>
              <a:spcAft>
                <a:spcPts val="400"/>
              </a:spcAft>
            </a:pPr>
            <a:r>
              <a:rPr b="1" sz="1200">
                <a:solidFill>
                  <a:srgbClr val="F8FAFC"/>
                </a:solidFill>
                <a:latin typeface="Calibri"/>
              </a:rPr>
              <a:t>System Readiness Sign-Off: </a:t>
            </a:r>
            <a:r>
              <a:rPr sz="1100">
                <a:solidFill>
                  <a:srgbClr val="38BDF8"/>
                </a:solidFill>
                <a:latin typeface="Calibri"/>
              </a:rPr>
              <a:t>FINHYPE is complete, mathematically reconciled, and verified across 154 passing unit and integration tests. Certified ready for Zeckathon 2026 defense.</a:t>
            </a:r>
          </a:p>
        </p:txBody>
      </p:sp>
      <p:sp>
        <p:nvSpPr>
          <p:cNvPr id="10" name="Rectangle 9"/>
          <p:cNvSpPr/>
          <p:nvPr/>
        </p:nvSpPr>
        <p:spPr>
          <a:xfrm>
            <a:off x="731520" y="6263640"/>
            <a:ext cx="10728655" cy="13716"/>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327648"/>
            <a:ext cx="5303520" cy="320040"/>
          </a:xfrm>
          <a:prstGeom prst="rect">
            <a:avLst/>
          </a:prstGeom>
          <a:noFill/>
        </p:spPr>
        <p:txBody>
          <a:bodyPr wrap="none" lIns="0" rIns="0" tIns="0" bIns="0">
            <a:spAutoFit/>
          </a:bodyPr>
          <a:lstStyle/>
          <a:p>
            <a:pPr>
              <a:defRPr sz="900">
                <a:solidFill>
                  <a:srgbClr val="94A3B8"/>
                </a:solidFill>
                <a:latin typeface="Calibri"/>
              </a:defRPr>
            </a:pPr>
            <a:r>
              <a:t>FINHYPE | Zeckathon 2026 · Problem Statement 3 | Origin: Sep 2026 · Target: Oct–Dec 2026</a:t>
            </a:r>
          </a:p>
        </p:txBody>
      </p:sp>
      <p:sp>
        <p:nvSpPr>
          <p:cNvPr id="12" name="TextBox 11"/>
          <p:cNvSpPr txBox="1"/>
          <p:nvPr/>
        </p:nvSpPr>
        <p:spPr>
          <a:xfrm>
            <a:off x="6035040" y="6327648"/>
            <a:ext cx="4846320" cy="320040"/>
          </a:xfrm>
          <a:prstGeom prst="rect">
            <a:avLst/>
          </a:prstGeom>
          <a:noFill/>
        </p:spPr>
        <p:txBody>
          <a:bodyPr wrap="none" lIns="0" rIns="0" tIns="0" bIns="0">
            <a:spAutoFit/>
          </a:bodyPr>
          <a:lstStyle/>
          <a:p>
            <a:pPr algn="r">
              <a:defRPr sz="850" i="1">
                <a:solidFill>
                  <a:srgbClr val="94A3B8"/>
                </a:solidFill>
                <a:latin typeface="Calibri"/>
              </a:defRPr>
            </a:pPr>
            <a:r>
              <a:t>Source: LIMITATIONS.md, ARCHITECTURE.md, RELEASE_CHECKLIST.md; Final Certified Release</a:t>
            </a:r>
          </a:p>
        </p:txBody>
      </p:sp>
      <p:sp>
        <p:nvSpPr>
          <p:cNvPr id="13" name="TextBox 12"/>
          <p:cNvSpPr txBox="1"/>
          <p:nvPr/>
        </p:nvSpPr>
        <p:spPr>
          <a:xfrm>
            <a:off x="10972800" y="6327648"/>
            <a:ext cx="487375" cy="320040"/>
          </a:xfrm>
          <a:prstGeom prst="rect">
            <a:avLst/>
          </a:prstGeom>
          <a:noFill/>
        </p:spPr>
        <p:txBody>
          <a:bodyPr wrap="none" lIns="0" rIns="0" tIns="0" bIns="0">
            <a:spAutoFit/>
          </a:bodyPr>
          <a:lstStyle/>
          <a:p>
            <a:pPr algn="r">
              <a:defRPr sz="950" b="1">
                <a:solidFill>
                  <a:srgbClr val="60A5FA"/>
                </a:solidFill>
                <a:latin typeface="Calibri"/>
              </a:defRPr>
            </a:pPr>
            <a:r>
              <a:t>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